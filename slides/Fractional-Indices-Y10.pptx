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</ns0:sldIdLst>
  <ns0:sldSz cx="12192000" cy="6858000" type="screen4x3"/>
  <ns0:notesSz cx="6858000" cy="9144000"/>
  <ns0:embeddedFontLst>
    <ns0:embeddedFont>
      <ns0:font typeface="Inter"/>
      <ns0:bold ns1:id="rIdFont19"/>
      <ns0:regular ns1:id="rIdFont20"/>
    </ns0:embeddedFont>
    <ns0:embeddedFont>
      <ns0:font typeface="Space Grotesk"/>
      <ns0:bold ns1:id="rIdFont21"/>
      <ns0:regular ns1:id="rIdFont22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Font19" Type="http://schemas.openxmlformats.org/officeDocument/2006/relationships/font" Target="fonts/ab0fde20-8f6d-4799-b406-df65aa370c22.fntdata" /><ns0:Relationship Id="rIdFont20" Type="http://schemas.openxmlformats.org/officeDocument/2006/relationships/font" Target="fonts/1591d0c4-8c01-4bdf-ae5a-544c7153897b.fntdata" /><ns0:Relationship Id="rIdFont21" Type="http://schemas.openxmlformats.org/officeDocument/2006/relationships/font" Target="fonts/de6382ea-26bb-4640-ae9a-0a3fb3c85c22.fntdata" /><ns0:Relationship Id="rIdFont22" Type="http://schemas.openxmlformats.org/officeDocument/2006/relationships/font" Target="fonts/114df011-61fa-4341-ad62-8676deec37fd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581650"/>
            <a:ext cx="10972800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5581650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609600"/>
            <a:ext cx="2676525" cy="276225"/>
          </a:xfrm>
          <a:prstGeom prst="roundRect">
            <a:avLst>
              <a:gd name="adj" fmla="val 20689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00425" y="609600"/>
            <a:ext cx="1200150" cy="276225"/>
          </a:xfrm>
          <a:prstGeom prst="roundRect">
            <a:avLst>
              <a:gd name="adj" fmla="val 20689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1114425"/>
            <a:ext cx="11251406" cy="59144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657"/>
              </a:lnSpc>
            </a:pPr>
            <a:r>
              <a:rPr b="1" sz="4050" i="0" u="none">
                <a:solidFill>
                  <a:srgbClr val="F8FAFC"/>
                </a:solidFill>
                <a:latin typeface="Space Grotesk"/>
              </a:rPr>
              <a:t>Fractional &amp; Negative Indices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858267"/>
            <a:ext cx="752475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94A3B8"/>
                </a:solidFill>
                <a:latin typeface="Inter"/>
              </a:rPr>
              <a:t>Mastering unit fractions, non-unit powers, negative exponents, surd conversions, algebraic terms, and $ax^b$ standard form.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2950" y="666750"/>
            <a:ext cx="25050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Inter"/>
              </a:rPr>
              <a:t>INGENIO • YEAR 10 GCSE MATHS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33775" y="666750"/>
            <a:ext cx="10287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Inter"/>
              </a:rPr>
              <a:t>HIGHER TIER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5857875"/>
            <a:ext cx="43815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CORE SKILL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057900"/>
            <a:ext cx="43815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CBD5E1"/>
                </a:solidFill>
                <a:latin typeface="Inter"/>
              </a:rPr>
              <a:t>Evaluations ($x^{m/n}$ &amp; $x^{-m/n}$)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5857875"/>
            <a:ext cx="43815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CORE SKILL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6057900"/>
            <a:ext cx="43815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CBD5E1"/>
                </a:solidFill>
                <a:latin typeface="Inter"/>
              </a:rPr>
              <a:t>Surd Form Conversions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7200" y="5857875"/>
            <a:ext cx="41148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CORE SKILL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7200" y="6057900"/>
            <a:ext cx="41148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CBD5E1"/>
                </a:solidFill>
                <a:latin typeface="Inter"/>
              </a:rPr>
              <a:t>Algebraic Form ($ax^b$)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62262"/>
            <a:ext cx="3505200" cy="2047875"/>
          </a:xfrm>
          <a:prstGeom prst="roundRect">
            <a:avLst>
              <a:gd name="adj" fmla="val 55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862262"/>
            <a:ext cx="3505200" cy="2047875"/>
          </a:xfrm>
          <a:prstGeom prst="roundRect">
            <a:avLst>
              <a:gd name="adj" fmla="val 55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862262"/>
            <a:ext cx="3505200" cy="2047875"/>
          </a:xfrm>
          <a:prstGeom prst="roundRect">
            <a:avLst>
              <a:gd name="adj" fmla="val 55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5825" y="3138487"/>
            <a:ext cx="523875" cy="219075"/>
          </a:xfrm>
          <a:prstGeom prst="roundRect">
            <a:avLst>
              <a:gd name="adj" fmla="val 17391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19625" y="3138487"/>
            <a:ext cx="552450" cy="219075"/>
          </a:xfrm>
          <a:prstGeom prst="roundRect">
            <a:avLst>
              <a:gd name="adj" fmla="val 17391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53425" y="3138487"/>
            <a:ext cx="552450" cy="219075"/>
          </a:xfrm>
          <a:prstGeom prst="roundRect">
            <a:avLst>
              <a:gd name="adj" fmla="val 17391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35623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Inter"/>
              </a:rPr>
              <a:t>Lesson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4975" y="457200"/>
            <a:ext cx="282178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Inter"/>
              </a:rPr>
              <a:t>GCSE Higher Tier Specification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85800"/>
            <a:ext cx="4550568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Summary of Index Laws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1075" y="3176587"/>
            <a:ext cx="4286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F46E5"/>
                </a:solidFill>
                <a:latin typeface="Inter"/>
              </a:rPr>
              <a:t>LAW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3443287"/>
            <a:ext cx="3875484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Unit Fractions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814762"/>
            <a:ext cx="369093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4F46E5"/>
                </a:solidFill>
                <a:latin typeface="Space Grotesk"/>
              </a:rPr>
              <a:t>$x^{1/n} = \sqrt[n]{x}$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4176712"/>
            <a:ext cx="304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The denominator of the fraction represents the root of the base.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14875" y="3176587"/>
            <a:ext cx="4572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F46E5"/>
                </a:solidFill>
                <a:latin typeface="Inter"/>
              </a:rPr>
              <a:t>LAW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9625" y="3443287"/>
            <a:ext cx="3875484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General Fractions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9625" y="3814762"/>
            <a:ext cx="369093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4F46E5"/>
                </a:solidFill>
                <a:latin typeface="Space Grotesk"/>
              </a:rPr>
              <a:t>$x^{m/n} = (\sqrt[n]{x})^m$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9625" y="4176712"/>
            <a:ext cx="304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Root the base first using denominator $n$, then raise to power $m$.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8675" y="3176587"/>
            <a:ext cx="4572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Inter"/>
              </a:rPr>
              <a:t>LAW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3425" y="3443287"/>
            <a:ext cx="383857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Negative Powers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3425" y="3814762"/>
            <a:ext cx="369093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D97706"/>
                </a:solidFill>
                <a:latin typeface="Space Grotesk"/>
              </a:rPr>
              <a:t>$x^{-m/n} = \frac{1}{x^{m/n}}$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3425" y="4176712"/>
            <a:ext cx="304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A negative power signifies taking the reciprocal of the term.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91407"/>
            <a:ext cx="5667375" cy="2389584"/>
          </a:xfrm>
          <a:prstGeom prst="roundRect">
            <a:avLst>
              <a:gd name="adj" fmla="val 478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2691407"/>
            <a:ext cx="57150" cy="238958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1775" y="2419350"/>
            <a:ext cx="5000625" cy="876300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1775" y="3448050"/>
            <a:ext cx="5000625" cy="876300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1775" y="4476750"/>
            <a:ext cx="5000625" cy="876300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4148732"/>
            <a:ext cx="5000625" cy="627459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575" y="4348757"/>
            <a:ext cx="4600575" cy="2274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34480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Inter"/>
              </a:rPr>
              <a:t>Lesson Section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15525" y="457200"/>
            <a:ext cx="208359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Inter"/>
              </a:rPr>
              <a:t>$x^{1/n} = \sqrt[n]{x}$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85800"/>
            <a:ext cx="440055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Unit Fractional Indices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1550" y="2996207"/>
            <a:ext cx="656332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The Fundamental Root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550" y="3443882"/>
            <a:ext cx="509587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The </a:t>
            </a:r>
            <a:r>
              <a:rPr b="1" sz="1350" i="0" u="none">
                <a:solidFill>
                  <a:srgbClr val="334155"/>
                </a:solidFill>
                <a:latin typeface="Inter"/>
              </a:rPr>
              <a:t>denominator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of a fractional index represents the </a:t>
            </a:r>
            <a:r>
              <a:rPr b="1" sz="1350" i="0" u="none">
                <a:solidFill>
                  <a:srgbClr val="334155"/>
                </a:solidFill>
                <a:latin typeface="Inter"/>
              </a:rPr>
              <a:t>root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of the base number.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9900" y="2619375"/>
            <a:ext cx="24003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Square Root ($n=2$)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53750" y="2686050"/>
            <a:ext cx="676275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4F46E5"/>
                </a:solidFill>
                <a:latin typeface="Space Grotesk"/>
              </a:rPr>
              <a:t>= 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9900" y="3648075"/>
            <a:ext cx="2695575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Cube Root ($n=3$)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44225" y="3714750"/>
            <a:ext cx="6858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4F46E5"/>
                </a:solidFill>
                <a:latin typeface="Space Grotesk"/>
              </a:rPr>
              <a:t>=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9900" y="4676775"/>
            <a:ext cx="2657475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Fifth Root ($n=5$)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53750" y="4743450"/>
            <a:ext cx="676275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4F46E5"/>
                </a:solidFill>
                <a:latin typeface="Space Grotesk"/>
              </a:rPr>
              <a:t>=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9900" y="2828925"/>
            <a:ext cx="2881312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Space Grotesk"/>
              </a:rPr>
              <a:t>$36^{1/2} = \sqrt{36}$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9900" y="3857625"/>
            <a:ext cx="325040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Space Grotesk"/>
              </a:rPr>
              <a:t>$64^{1/3} = \sqrt[3]{64}$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9900" y="4886325"/>
            <a:ext cx="320278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Space Grotesk"/>
              </a:rPr>
              <a:t>$32^{1/5} = \sqrt[5]{32}$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05062"/>
            <a:ext cx="10972800" cy="1590675"/>
          </a:xfrm>
          <a:prstGeom prst="roundRect">
            <a:avLst>
              <a:gd name="adj" fmla="val 71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4262437"/>
            <a:ext cx="3238500" cy="1104900"/>
          </a:xfrm>
          <a:prstGeom prst="roundRect">
            <a:avLst>
              <a:gd name="adj" fmla="val 1034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476750" y="4262437"/>
            <a:ext cx="3238500" cy="1104900"/>
          </a:xfrm>
          <a:prstGeom prst="roundRect">
            <a:avLst>
              <a:gd name="adj" fmla="val 1034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343900" y="4262437"/>
            <a:ext cx="3238500" cy="1104900"/>
          </a:xfrm>
          <a:prstGeom prst="roundRect">
            <a:avLst>
              <a:gd name="adj" fmla="val 1034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4134" y="2924770"/>
            <a:ext cx="1283940" cy="551259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6700" y="4719637"/>
            <a:ext cx="17145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3850" y="4719637"/>
            <a:ext cx="17145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9884" y="3096220"/>
            <a:ext cx="712440" cy="20835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39433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Inter"/>
              </a:rPr>
              <a:t>Lesson Section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0" y="457200"/>
            <a:ext cx="25717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Inter"/>
              </a:rPr>
              <a:t>$x^{m/n} = (\sqrt[n]{x})^m$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85800"/>
            <a:ext cx="5050631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General Fractional Indices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387" y="4491037"/>
            <a:ext cx="3590925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64748B"/>
                </a:solidFill>
                <a:latin typeface="Inter"/>
              </a:rPr>
              <a:t>STEP 1: Target Expression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537" y="4491037"/>
            <a:ext cx="3590925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64748B"/>
                </a:solidFill>
                <a:latin typeface="Inter"/>
              </a:rPr>
              <a:t>STEP 2: Cube Root 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7687" y="4491037"/>
            <a:ext cx="3590925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64748B"/>
                </a:solidFill>
                <a:latin typeface="Inter"/>
              </a:rPr>
              <a:t>STEP 3: Square Second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925" y="2643187"/>
            <a:ext cx="750093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Golden Rule: Root First, Power Second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925" y="2986087"/>
            <a:ext cx="581025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Denominator ($n$) = </a:t>
            </a:r>
            <a:r>
              <a:rPr b="1" sz="1350" i="0" u="none">
                <a:solidFill>
                  <a:srgbClr val="475569"/>
                </a:solidFill>
                <a:latin typeface="Inter"/>
              </a:rPr>
              <a:t>Root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• Numerator ($m$) = </a:t>
            </a:r>
            <a:r>
              <a:rPr b="1" sz="1350" i="0" u="none">
                <a:solidFill>
                  <a:srgbClr val="475569"/>
                </a:solidFill>
                <a:latin typeface="Inter"/>
              </a:rPr>
              <a:t>Power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.</a:t>
            </a:r>
            <a:r>
              <a:t>
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Always calculate the root first to avoid dealing with excessively large numbers.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0537" y="4795837"/>
            <a:ext cx="3476625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0F172A"/>
                </a:solidFill>
                <a:latin typeface="Space Grotesk"/>
              </a:rPr>
              <a:t>$27^{2/3}$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57687" y="4795837"/>
            <a:ext cx="3476625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4F46E5"/>
                </a:solidFill>
                <a:latin typeface="Space Grotesk"/>
              </a:rPr>
              <a:t>$\sqrt[3]{27} = 3$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4837" y="4795837"/>
            <a:ext cx="3476625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059669"/>
                </a:solidFill>
                <a:latin typeface="Space Grotesk"/>
              </a:rPr>
              <a:t>$3^2 = 9$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33960"/>
            <a:ext cx="5353050" cy="2504479"/>
          </a:xfrm>
          <a:prstGeom prst="roundRect">
            <a:avLst>
              <a:gd name="adj" fmla="val 456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67450" y="2562225"/>
            <a:ext cx="5314950" cy="2647950"/>
          </a:xfrm>
          <a:prstGeom prst="roundRect">
            <a:avLst>
              <a:gd name="adj" fmla="val 431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2633960"/>
            <a:ext cx="57150" cy="2504479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1775" y="4448175"/>
            <a:ext cx="46863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1775" y="319087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1775" y="360997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1775" y="402907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4053185"/>
            <a:ext cx="4686300" cy="780454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575" y="4253210"/>
            <a:ext cx="4286250" cy="3804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41243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Inter"/>
              </a:rPr>
              <a:t>Lesson Section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05925" y="457200"/>
            <a:ext cx="284559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Inter"/>
              </a:rPr>
              <a:t>$x^{-m/n} = \frac{1}{x^{m/n}}$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85800"/>
            <a:ext cx="528816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Negative Fractional Indices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1550" y="2938760"/>
            <a:ext cx="6150768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The Reciprocal Rule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550" y="3348335"/>
            <a:ext cx="47815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A </a:t>
            </a:r>
            <a:r>
              <a:rPr b="1" sz="1350" i="0" u="none">
                <a:solidFill>
                  <a:srgbClr val="334155"/>
                </a:solidFill>
                <a:latin typeface="Inter"/>
              </a:rPr>
              <a:t>negative power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signifies taking the </a:t>
            </a:r>
            <a:r>
              <a:rPr b="1" sz="1350" i="0" u="none">
                <a:solidFill>
                  <a:srgbClr val="334155"/>
                </a:solidFill>
                <a:latin typeface="Inter"/>
              </a:rPr>
              <a:t>reciprocal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(flipping the base number to the denominator).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1775" y="2876550"/>
            <a:ext cx="56102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EXAMPLE BREAKDOWN: EVALUATE $32^{-3/5}$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6525" y="4562475"/>
            <a:ext cx="478155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950" i="0" u="none">
                <a:solidFill>
                  <a:srgbClr val="D97706"/>
                </a:solidFill>
                <a:latin typeface="Inter"/>
              </a:rPr>
              <a:t>Final Answer: $\frac{1}{8}$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8900" y="3190875"/>
            <a:ext cx="5524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0875" y="3224212"/>
            <a:ext cx="38695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Inter"/>
              </a:rPr>
              <a:t>Flip for negative: $\frac{1}{32^{3/5}}$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8900" y="3609975"/>
            <a:ext cx="5524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0875" y="3643312"/>
            <a:ext cx="35480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Inter"/>
              </a:rPr>
              <a:t>Fifth root of 32: $\sqrt[5]{32} = 2$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8900" y="4029075"/>
            <a:ext cx="5524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00875" y="4062412"/>
            <a:ext cx="27384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Inter"/>
              </a:rPr>
              <a:t>Cube the result: $2^3 = 8$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91866"/>
            <a:ext cx="5372100" cy="2188666"/>
          </a:xfrm>
          <a:prstGeom prst="roundRect">
            <a:avLst>
              <a:gd name="adj" fmla="val 52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791866"/>
            <a:ext cx="5372100" cy="2188666"/>
          </a:xfrm>
          <a:prstGeom prst="roundRect">
            <a:avLst>
              <a:gd name="adj" fmla="val 52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51625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Inter"/>
              </a:rPr>
              <a:t>Lesson Section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20100" y="457200"/>
            <a:ext cx="37719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Inter"/>
              </a:rPr>
              <a:t>$(\frac{a}{b})^{-p/q} = (\frac{b}{a})^{p/q}$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058566"/>
            <a:ext cx="4933950" cy="1655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Inter"/>
              </a:rPr>
              <a:t>Positive Fractional 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7000" y="3058566"/>
            <a:ext cx="4933950" cy="1655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Inter"/>
              </a:rPr>
              <a:t>Negative Fractional 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85800"/>
            <a:ext cx="6650831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Fractional Bases Raised to Powers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3372891"/>
            <a:ext cx="632579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$(\frac{16}{81})^{3/4}$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820566"/>
            <a:ext cx="4914900" cy="8837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Apply root and power to </a:t>
            </a:r>
            <a:r>
              <a:rPr b="1" sz="1350" i="0" u="none">
                <a:solidFill>
                  <a:srgbClr val="334155"/>
                </a:solidFill>
                <a:latin typeface="Inter"/>
              </a:rPr>
              <a:t>both top and bottom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:</a:t>
            </a:r>
            <a:r>
              <a:t>
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$\frac{\sqrt[4]{16}^3}{\sqrt[4]{81}^3} = \frac{2^3}{3^3} =$ </a:t>
            </a:r>
            <a:r>
              <a:rPr b="1" sz="1650" i="0" u="none">
                <a:solidFill>
                  <a:srgbClr val="4F46E5"/>
                </a:solidFill>
                <a:latin typeface="Inter"/>
              </a:rPr>
              <a:t>$\frac{8}{27}$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6525" y="3372891"/>
            <a:ext cx="570547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$(\frac{8}{125})^{-2/3}$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6525" y="3820566"/>
            <a:ext cx="4914900" cy="8837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Flip the fraction first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to remove negative power:</a:t>
            </a:r>
            <a:r>
              <a:t>
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$(\frac{125}{8})^{2/3} = \frac{\sqrt[3]{125}^2}{\sqrt[3]{8}^2} =$ </a:t>
            </a:r>
            <a:r>
              <a:rPr b="1" sz="1650" i="0" u="none">
                <a:solidFill>
                  <a:srgbClr val="D97706"/>
                </a:solidFill>
                <a:latin typeface="Inter"/>
              </a:rPr>
              <a:t>$\frac{25}{4}$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281237"/>
            <a:ext cx="5172075" cy="942975"/>
          </a:xfrm>
          <a:prstGeom prst="roundRect">
            <a:avLst>
              <a:gd name="adj" fmla="val 121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10325" y="2281237"/>
            <a:ext cx="5172075" cy="942975"/>
          </a:xfrm>
          <a:prstGeom prst="roundRect">
            <a:avLst>
              <a:gd name="adj" fmla="val 121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414712"/>
            <a:ext cx="5172075" cy="942975"/>
          </a:xfrm>
          <a:prstGeom prst="roundRect">
            <a:avLst>
              <a:gd name="adj" fmla="val 121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10325" y="3414712"/>
            <a:ext cx="5172075" cy="942975"/>
          </a:xfrm>
          <a:prstGeom prst="roundRect">
            <a:avLst>
              <a:gd name="adj" fmla="val 121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4548187"/>
            <a:ext cx="5172075" cy="942975"/>
          </a:xfrm>
          <a:prstGeom prst="roundRect">
            <a:avLst>
              <a:gd name="adj" fmla="val 121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10325" y="4548187"/>
            <a:ext cx="5172075" cy="942975"/>
          </a:xfrm>
          <a:prstGeom prst="roundRect">
            <a:avLst>
              <a:gd name="adj" fmla="val 121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0275" y="2657475"/>
            <a:ext cx="17145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0275" y="3790950"/>
            <a:ext cx="17145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0275" y="4924425"/>
            <a:ext cx="171450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53530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Inter"/>
              </a:rPr>
              <a:t>Lesson Section 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91675" y="457200"/>
            <a:ext cx="248840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Inter"/>
              </a:rPr>
              <a:t>Surd Notation Conversions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85800"/>
            <a:ext cx="6900862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Writing Indices as Surd Expressions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2481262"/>
            <a:ext cx="5869781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INDEX 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2681287"/>
            <a:ext cx="5869781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$x^{3/5}$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8450" y="2481262"/>
            <a:ext cx="55435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Inter"/>
              </a:rPr>
              <a:t>SURD 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8450" y="2681287"/>
            <a:ext cx="554355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4F46E5"/>
                </a:solidFill>
                <a:latin typeface="Space Grotesk"/>
              </a:rPr>
              <a:t>$\sqrt[5]{x^3}$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3614737"/>
            <a:ext cx="5869781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INDEX 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" y="3814762"/>
            <a:ext cx="5869781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$7y^{-2/3}$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8450" y="3614737"/>
            <a:ext cx="55435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Inter"/>
              </a:rPr>
              <a:t>SURD 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8450" y="3814762"/>
            <a:ext cx="554355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4F46E5"/>
                </a:solidFill>
                <a:latin typeface="Space Grotesk"/>
              </a:rPr>
              <a:t>$\frac{7}{\sqrt[3]{y^2}}$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725" y="4748212"/>
            <a:ext cx="5869781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SURD 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725" y="4948237"/>
            <a:ext cx="5869781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$\sqrt[4]{a^7}$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8450" y="4748212"/>
            <a:ext cx="55435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59669"/>
                </a:solidFill>
                <a:latin typeface="Inter"/>
              </a:rPr>
              <a:t>INDEX 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48450" y="4948237"/>
            <a:ext cx="554355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59669"/>
                </a:solidFill>
                <a:latin typeface="Space Grotesk"/>
              </a:rPr>
              <a:t>$a^{7/4}$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02272"/>
            <a:ext cx="5667375" cy="2367855"/>
          </a:xfrm>
          <a:prstGeom prst="roundRect">
            <a:avLst>
              <a:gd name="adj" fmla="val 482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2702272"/>
            <a:ext cx="57150" cy="236785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71550" y="4155727"/>
            <a:ext cx="500062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1775" y="2228850"/>
            <a:ext cx="5000625" cy="895350"/>
          </a:xfrm>
          <a:prstGeom prst="roundRect">
            <a:avLst>
              <a:gd name="adj" fmla="val 1276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1775" y="3276600"/>
            <a:ext cx="5000625" cy="1162050"/>
          </a:xfrm>
          <a:prstGeom prst="roundRect">
            <a:avLst>
              <a:gd name="adj" fmla="val 98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1775" y="4591050"/>
            <a:ext cx="5000625" cy="952500"/>
          </a:xfrm>
          <a:prstGeom prst="roundRect">
            <a:avLst>
              <a:gd name="adj" fmla="val 12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41719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Inter"/>
              </a:rPr>
              <a:t>Lesson Section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86875" y="457200"/>
            <a:ext cx="286940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Inter"/>
              </a:rPr>
              <a:t>Applying Power of a Power Law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85800"/>
            <a:ext cx="5350668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Algebraic Terms in Brackets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550" y="3007072"/>
            <a:ext cx="656332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Simplify: $(16x^8)^{3/4}$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1550" y="3416647"/>
            <a:ext cx="50958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Apply the fractional power $3/4$ to </a:t>
            </a:r>
            <a:r>
              <a:rPr b="1" sz="1350" i="0" u="none">
                <a:solidFill>
                  <a:srgbClr val="334155"/>
                </a:solidFill>
                <a:latin typeface="Inter"/>
              </a:rPr>
              <a:t>BOTH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the numerical coefficient ($16$) and the algebraic variable power ($x^8$).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72275" y="2419350"/>
            <a:ext cx="471487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PART 1: Coefficient Power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72275" y="3467100"/>
            <a:ext cx="4714875" cy="781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PART 2: Variable Power Law $(x^a)^b = x^{a \cdot b}$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7196" y="4781550"/>
            <a:ext cx="5869781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Inter"/>
              </a:rPr>
              <a:t>Combined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525" y="4336702"/>
            <a:ext cx="579834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Space Grotesk"/>
              </a:rPr>
              <a:t>$= 16^{3/4} \cdot (x^8)^{3/4}$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1800" y="2657475"/>
            <a:ext cx="5410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Space Grotesk"/>
              </a:rPr>
              <a:t>$16^{3/4} = (\sqrt[4]{16})^3 = 2^3 =$ </a:t>
            </a:r>
            <a:r>
              <a:rPr b="1" sz="1650" i="0" u="none">
                <a:solidFill>
                  <a:srgbClr val="0F172A"/>
                </a:solidFill>
                <a:latin typeface="Space Grotesk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1800" y="3705225"/>
            <a:ext cx="4695825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Space Grotesk"/>
              </a:rPr>
              <a:t>$(x^8)^{3/4} = x^{8 \cdot \frac{3}{4}} =$ </a:t>
            </a:r>
            <a:r>
              <a:rPr b="1" sz="1650" i="0" u="none">
                <a:solidFill>
                  <a:srgbClr val="0F172A"/>
                </a:solidFill>
                <a:latin typeface="Space Grotesk"/>
              </a:rPr>
              <a:t>$x^6$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4821" y="5010150"/>
            <a:ext cx="5774531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FFFFFF"/>
                </a:solidFill>
                <a:latin typeface="Space Grotesk"/>
              </a:rPr>
              <a:t>$8x^6$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95562"/>
            <a:ext cx="3505200" cy="2581275"/>
          </a:xfrm>
          <a:prstGeom prst="roundRect">
            <a:avLst>
              <a:gd name="adj" fmla="val 442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333625"/>
            <a:ext cx="3505200" cy="3105150"/>
          </a:xfrm>
          <a:prstGeom prst="roundRect">
            <a:avLst>
              <a:gd name="adj" fmla="val 368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333625"/>
            <a:ext cx="3505200" cy="3105150"/>
          </a:xfrm>
          <a:prstGeom prst="roundRect">
            <a:avLst>
              <a:gd name="adj" fmla="val 368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5825" y="4386262"/>
            <a:ext cx="2952750" cy="51435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19625" y="4648200"/>
            <a:ext cx="2952750" cy="51435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53425" y="4648200"/>
            <a:ext cx="2952750" cy="51435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59150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Inter"/>
              </a:rPr>
              <a:t>Lesson Section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457200"/>
            <a:ext cx="24765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Inter"/>
              </a:rPr>
              <a:t>Essential Higher GCSE Skill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2862262"/>
            <a:ext cx="3067050" cy="2047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Inter"/>
              </a:rPr>
              <a:t>Example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0100" y="2600325"/>
            <a:ext cx="3067050" cy="2571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Inter"/>
              </a:rPr>
              <a:t>Example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3900" y="2600325"/>
            <a:ext cx="3067050" cy="2571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Inter"/>
              </a:rPr>
              <a:t>Example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85800"/>
            <a:ext cx="7638454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Expressing Expressions in Form $ax^b$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3176587"/>
            <a:ext cx="3875484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$\frac{5}{\sqrt{x}}$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3586162"/>
            <a:ext cx="3048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1. Replace surd: $\sqrt{x} = x^{1/2}$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2. Bring to numerator with negative power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9625" y="2914650"/>
            <a:ext cx="320040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$\frac{3}{4\sqrt[3]{x^2}}$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9625" y="3619500"/>
            <a:ext cx="3048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1. Separate numerical fraction: $\frac{3}{4}$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2. Convert denominator power: $x^{-2/3}$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3425" y="2914650"/>
            <a:ext cx="320040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$\frac{2x^3 + \sqrt{x}}{x}$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3425" y="3619500"/>
            <a:ext cx="3048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1. Split terms: $\frac{2x^3}{x} + \frac{x^{1/2}}{x^1}$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2. Subtract powers ($3-1=2, \frac{1}{2}-1=-\frac{1}{2}$)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1512" y="4510087"/>
            <a:ext cx="33813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4F46E5"/>
                </a:solidFill>
                <a:latin typeface="Space Grotesk"/>
              </a:rPr>
              <a:t>$5x^{-1/2}$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5312" y="4772025"/>
            <a:ext cx="33813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4F46E5"/>
                </a:solidFill>
                <a:latin typeface="Space Grotesk"/>
              </a:rPr>
              <a:t>$\frac{3}{4}x^{-2/3}$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9112" y="4772025"/>
            <a:ext cx="33813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4F46E5"/>
                </a:solidFill>
                <a:latin typeface="Space Grotesk"/>
              </a:rPr>
              <a:t>$2x^2 + x^{-1/2}$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039350" y="457200"/>
            <a:ext cx="1543050" cy="276225"/>
          </a:xfrm>
          <a:prstGeom prst="roundRect">
            <a:avLst>
              <a:gd name="adj" fmla="val 20689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162175"/>
            <a:ext cx="10972800" cy="933450"/>
          </a:xfrm>
          <a:prstGeom prst="roundRect">
            <a:avLst>
              <a:gd name="adj" fmla="val 1224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886325"/>
            <a:ext cx="10972800" cy="723900"/>
          </a:xfrm>
          <a:prstGeom prst="roundRect">
            <a:avLst>
              <a:gd name="adj" fmla="val 15789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3286125"/>
            <a:ext cx="5372100" cy="1409700"/>
          </a:xfrm>
          <a:prstGeom prst="roundRect">
            <a:avLst>
              <a:gd name="adj" fmla="val 810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0300" y="3286125"/>
            <a:ext cx="5372100" cy="1409700"/>
          </a:xfrm>
          <a:prstGeom prst="roundRect">
            <a:avLst>
              <a:gd name="adj" fmla="val 810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495300"/>
            <a:ext cx="528637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Inter"/>
              </a:rPr>
              <a:t>Worked Exam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72700" y="514350"/>
            <a:ext cx="13716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Inter"/>
              </a:rPr>
              <a:t>Grade 8/9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285750" y="2352675"/>
            <a:ext cx="127635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64748B"/>
                </a:solidFill>
                <a:latin typeface="Inter"/>
              </a:rPr>
              <a:t>Problem Statement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23900"/>
            <a:ext cx="6813351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Multi-Step Algebraic Simplification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261937" y="2581275"/>
            <a:ext cx="1271587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950" i="0" u="none">
                <a:solidFill>
                  <a:srgbClr val="0F172A"/>
                </a:solidFill>
                <a:latin typeface="Space Grotesk"/>
              </a:rPr>
              <a:t>Simplify fully: $\frac{(27x^6)^{2/3}}{\sqrt{81x^8}}$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3476625"/>
            <a:ext cx="508635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Inter"/>
              </a:rPr>
              <a:t>Numerator Expansion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476625"/>
            <a:ext cx="508635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Inter"/>
              </a:rPr>
              <a:t>Denominator Expansion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5153025"/>
            <a:ext cx="320278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4A3B8"/>
                </a:solidFill>
                <a:latin typeface="Inter"/>
              </a:rPr>
              <a:t>Final Division: $\frac{9x^4}{9x^4}$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15625" y="5076825"/>
            <a:ext cx="962025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38BDF8"/>
                </a:solidFill>
                <a:latin typeface="Space Grotesk"/>
              </a:rPr>
              <a:t>$= 1$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625" y="3752850"/>
            <a:ext cx="5067300" cy="74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Space Grotesk"/>
              </a:rPr>
              <a:t>$= 27^{2/3} \cdot (x^6)^{2/3}$</a:t>
            </a:r>
            <a:r>
              <a:t>
</a:t>
            </a:r>
            <a:r>
              <a:rPr b="0" sz="1500" i="0" u="none">
                <a:solidFill>
                  <a:srgbClr val="0F172A"/>
                </a:solidFill>
                <a:latin typeface="Space Grotesk"/>
              </a:rPr>
              <a:t> $= (\sqrt[3]{27})^2 \cdot x^4$</a:t>
            </a:r>
            <a:r>
              <a:t>
</a:t>
            </a:r>
            <a:r>
              <a:rPr b="0" sz="1500" i="0" u="none">
                <a:solidFill>
                  <a:srgbClr val="0F172A"/>
                </a:solidFill>
                <a:latin typeface="Space Grotesk"/>
              </a:rPr>
              <a:t> $= \mathbf{9x^4}$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0325" y="3752850"/>
            <a:ext cx="5067300" cy="74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Space Grotesk"/>
              </a:rPr>
              <a:t>$= (81x^8)^{1/2}$</a:t>
            </a:r>
            <a:r>
              <a:t>
</a:t>
            </a:r>
            <a:r>
              <a:rPr b="0" sz="1500" i="0" u="none">
                <a:solidFill>
                  <a:srgbClr val="0F172A"/>
                </a:solidFill>
                <a:latin typeface="Space Grotesk"/>
              </a:rPr>
              <a:t> $= \sqrt{81} \cdot (x^8)^{1/2}$</a:t>
            </a:r>
            <a:r>
              <a:t>
</a:t>
            </a:r>
            <a:r>
              <a:rPr b="0" sz="1500" i="0" u="none">
                <a:solidFill>
                  <a:srgbClr val="0F172A"/>
                </a:solidFill>
                <a:latin typeface="Space Grotesk"/>
              </a:rPr>
              <a:t> $= \mathbf{9x^4}$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09825"/>
            <a:ext cx="10972800" cy="857250"/>
          </a:xfrm>
          <a:prstGeom prst="roundRect">
            <a:avLst>
              <a:gd name="adj" fmla="val 13333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457575"/>
            <a:ext cx="10972800" cy="857250"/>
          </a:xfrm>
          <a:prstGeom prst="roundRect">
            <a:avLst>
              <a:gd name="adj" fmla="val 13333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505325"/>
            <a:ext cx="10972800" cy="857250"/>
          </a:xfrm>
          <a:prstGeom prst="roundRect">
            <a:avLst>
              <a:gd name="adj" fmla="val 13333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2409825"/>
            <a:ext cx="57150" cy="85725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457575"/>
            <a:ext cx="57150" cy="85725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4505325"/>
            <a:ext cx="57150" cy="85725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0" y="2705100"/>
            <a:ext cx="266700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0" y="3752850"/>
            <a:ext cx="266700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0" y="4800600"/>
            <a:ext cx="266700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51435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F4444"/>
                </a:solidFill>
                <a:latin typeface="Inter"/>
              </a:rPr>
              <a:t>Exam Pitfalls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77475" y="457200"/>
            <a:ext cx="163115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Inter"/>
              </a:rPr>
              <a:t>Examiner Insights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85800"/>
            <a:ext cx="6625828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Common Misconceptions to Avoid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3450" y="2600325"/>
            <a:ext cx="5629275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91C1C"/>
                </a:solidFill>
                <a:latin typeface="Inter"/>
              </a:rPr>
              <a:t>MISTAKE 1: Multiplying base by power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450" y="3648075"/>
            <a:ext cx="58102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91C1C"/>
                </a:solidFill>
                <a:latin typeface="Inter"/>
              </a:rPr>
              <a:t>MISTAKE 2: Forgetting coefficient power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3450" y="4695825"/>
            <a:ext cx="6981825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91C1C"/>
                </a:solidFill>
                <a:latin typeface="Inter"/>
              </a:rPr>
              <a:t>MISTAKE 3: Negative power creating negative numbers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3450" y="2828925"/>
            <a:ext cx="691753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991B1B"/>
                </a:solidFill>
                <a:latin typeface="Space Grotesk"/>
              </a:rPr>
              <a:t>$16^{1/2} \neq 8$   (Correct: $\sqrt{16} = 4$, not $16 \div 2$)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3450" y="3876675"/>
            <a:ext cx="714375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991B1B"/>
                </a:solidFill>
                <a:latin typeface="Space Grotesk"/>
              </a:rPr>
              <a:t>$(16x^4)^{1/2} \neq 16x^2$   (Correct: $\sqrt{16}x^2 = 4x^2$)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450" y="4924425"/>
            <a:ext cx="8608218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991B1B"/>
                </a:solidFill>
                <a:latin typeface="Space Grotesk"/>
              </a:rPr>
              <a:t>$9^{-1/2} \neq -3$   (Correct: Reciprocal $\frac{1}{\sqrt{9}} = \frac{1}{3}$)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857875"/>
            <a:ext cx="10972800" cy="390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847850"/>
            <a:ext cx="2571750" cy="3705225"/>
          </a:xfrm>
          <a:prstGeom prst="roundRect">
            <a:avLst>
              <a:gd name="adj" fmla="val 444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09950" y="1847850"/>
            <a:ext cx="2571750" cy="3705225"/>
          </a:xfrm>
          <a:prstGeom prst="roundRect">
            <a:avLst>
              <a:gd name="adj" fmla="val 444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1847850"/>
            <a:ext cx="2571750" cy="3705225"/>
          </a:xfrm>
          <a:prstGeom prst="roundRect">
            <a:avLst>
              <a:gd name="adj" fmla="val 444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10650" y="1847850"/>
            <a:ext cx="2571750" cy="3705225"/>
          </a:xfrm>
          <a:prstGeom prst="roundRect">
            <a:avLst>
              <a:gd name="adj" fmla="val 444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5857875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9600" y="609600"/>
            <a:ext cx="1676400" cy="276225"/>
          </a:xfrm>
          <a:prstGeom prst="roundRect">
            <a:avLst>
              <a:gd name="adj" fmla="val 20689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085975"/>
            <a:ext cx="22860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075" y="2085975"/>
            <a:ext cx="22860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8425" y="2085975"/>
            <a:ext cx="22860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8775" y="2085975"/>
            <a:ext cx="228600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1038225"/>
            <a:ext cx="11582400" cy="504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F8FAFC"/>
                </a:solidFill>
                <a:latin typeface="Space Grotesk"/>
              </a:rPr>
              <a:t>Fractional Indices Mastery Checklist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062662"/>
            <a:ext cx="522684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Ready for independent practice &amp; exam question worksheets.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82050" y="6057900"/>
            <a:ext cx="34099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Inter"/>
              </a:rPr>
              <a:t>Ingenio Framework • Y10 GCSE Higher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950" y="666750"/>
            <a:ext cx="15049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Inter"/>
              </a:rPr>
              <a:t>LESSON SUMMARY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39325" y="647700"/>
            <a:ext cx="21788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Space Grotesk"/>
              </a:rPr>
              <a:t>Ingenio Y10 GCSE Maths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2428875"/>
            <a:ext cx="275034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Space Grotesk"/>
              </a:rPr>
              <a:t>Unit Fractions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" y="2752725"/>
            <a:ext cx="21907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Inter"/>
              </a:rPr>
              <a:t>$x^{1/n}$ represents taking the $n$-th root of base $x$.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48075" y="2428875"/>
            <a:ext cx="275034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Space Grotesk"/>
              </a:rPr>
              <a:t>General Fractions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48075" y="2752725"/>
            <a:ext cx="21907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Inter"/>
              </a:rPr>
              <a:t>Root denominator first, power numerator second.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8425" y="2428875"/>
            <a:ext cx="275034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Space Grotesk"/>
              </a:rPr>
              <a:t>Reciprocals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8425" y="2752725"/>
            <a:ext cx="21907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Inter"/>
              </a:rPr>
              <a:t>Negative indices flip numbers or fractions.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48775" y="2428875"/>
            <a:ext cx="275034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Space Grotesk"/>
              </a:rPr>
              <a:t>Form $ax^b$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48775" y="2752725"/>
            <a:ext cx="21907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Inter"/>
              </a:rPr>
              <a:t>Separate coefficients and convert root terms.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