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989a6d26-a1a5-428f-a5f9-55e6ac11fcac.fntdata" /><ns0:Relationship Id="rIdFont20" Type="http://schemas.openxmlformats.org/officeDocument/2006/relationships/font" Target="fonts/bc2a13a2-4a45-4db3-91f2-84fb1d1c0157.fntdata" /><ns0:Relationship Id="rIdFont21" Type="http://schemas.openxmlformats.org/officeDocument/2006/relationships/font" Target="fonts/95c6ff81-6654-4a2c-8fc5-3edf118c80f4.fntdata" /><ns0:Relationship Id="rIdFont22" Type="http://schemas.openxmlformats.org/officeDocument/2006/relationships/font" Target="fonts/9e96884d-ec86-46f5-aa99-f20042ff33b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419576"/>
            <a:ext cx="109728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25025" y="533400"/>
            <a:ext cx="1857375" cy="304800"/>
          </a:xfrm>
          <a:prstGeom prst="roundRect">
            <a:avLst>
              <a:gd name="adj" fmla="val 50000"/>
            </a:avLst>
          </a:prstGeom>
          <a:solidFill>
            <a:srgbClr val="2E304F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619601"/>
            <a:ext cx="3530649" cy="704850"/>
          </a:xfrm>
          <a:prstGeom prst="roundRect">
            <a:avLst>
              <a:gd name="adj" fmla="val 16216"/>
            </a:avLst>
          </a:prstGeom>
          <a:solidFill>
            <a:srgbClr val="232545"/>
          </a:solidFill>
          <a:ln w="9525">
            <a:solidFill>
              <a:srgbClr val="2A2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419576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749" y="5619601"/>
            <a:ext cx="3530649" cy="704850"/>
          </a:xfrm>
          <a:prstGeom prst="roundRect">
            <a:avLst>
              <a:gd name="adj" fmla="val 16216"/>
            </a:avLst>
          </a:prstGeom>
          <a:solidFill>
            <a:srgbClr val="232545"/>
          </a:solidFill>
          <a:ln w="9525">
            <a:solidFill>
              <a:srgbClr val="2A2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5619601"/>
            <a:ext cx="3530649" cy="704850"/>
          </a:xfrm>
          <a:prstGeom prst="roundRect">
            <a:avLst>
              <a:gd name="adj" fmla="val 16216"/>
            </a:avLst>
          </a:prstGeom>
          <a:solidFill>
            <a:srgbClr val="232545"/>
          </a:solidFill>
          <a:ln w="9525">
            <a:solidFill>
              <a:srgbClr val="2A2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5524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6465"/>
            <a:ext cx="166687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781526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674" y="5781526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824" y="5781526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5895826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449" y="5895826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124" y="5895826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7425" y="590550"/>
            <a:ext cx="1647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Unit 2: Number &amp; Indices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487" y="2417415"/>
            <a:ext cx="2174081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818CF8"/>
                </a:solidFill>
                <a:latin typeface="Plus Jakarta Sans"/>
              </a:rPr>
              <a:t>KEY STAGE 4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712690"/>
            <a:ext cx="11501437" cy="565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Numerical Laws of Indices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430785"/>
            <a:ext cx="7524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CBD5E1"/>
                </a:solidFill>
                <a:latin typeface="Plus Jakarta Sans"/>
              </a:rPr>
              <a:t>Comprehensive guide to multiplying, dividing, zero exponents, powers of powers, and multi-step calculations with numeric bases.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09600"/>
            <a:ext cx="1219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INGENIO MATHS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2650" y="595312"/>
            <a:ext cx="3143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Plus Jakarta Sans"/>
              </a:rPr>
              <a:t>GCSE Higher &amp; Foundation • Year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75" y="5805338"/>
            <a:ext cx="3048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4 Core Laws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875" y="598631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Product, Quotient, Zero &amp; Power of 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7024" y="5805338"/>
            <a:ext cx="2250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Multi-Step Mastery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7024" y="5986313"/>
            <a:ext cx="2250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Combined order of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8174" y="5805338"/>
            <a:ext cx="1940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Exam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8174" y="5986313"/>
            <a:ext cx="1940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Bronze, Silver &amp; Gold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15575" y="514350"/>
            <a:ext cx="1266825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81275"/>
            <a:ext cx="4000500" cy="245745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" y="4257675"/>
            <a:ext cx="32004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14900" y="2300287"/>
            <a:ext cx="6667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14900" y="3328987"/>
            <a:ext cx="66675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14900" y="4376737"/>
            <a:ext cx="6667500" cy="942975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14900" y="3167062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14900" y="2300287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14900" y="2300287"/>
            <a:ext cx="57150" cy="876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300287"/>
            <a:ext cx="9525" cy="876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14900" y="4214812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14900" y="3328987"/>
            <a:ext cx="666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4900" y="3328987"/>
            <a:ext cx="57150" cy="895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72875" y="3328987"/>
            <a:ext cx="9525" cy="895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2538412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3567112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4576762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48925" y="571500"/>
            <a:ext cx="1095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730A3"/>
                </a:solidFill>
                <a:latin typeface="Plus Jakarta Sans"/>
              </a:rPr>
              <a:t>INGENIO MATHS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81000"/>
            <a:ext cx="471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52450"/>
            <a:ext cx="4950618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Anatomy of Index Notation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981325"/>
            <a:ext cx="4000500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1350" i="0" u="none">
                <a:solidFill>
                  <a:srgbClr val="4F46E5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410075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75569"/>
                </a:solidFill>
                <a:latin typeface="Plus Jakarta Sans"/>
              </a:rPr>
              <a:t>Spoken: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"Five to the power of four"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0650" y="2500312"/>
            <a:ext cx="699135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4B"/>
                </a:solidFill>
                <a:latin typeface="Plus Jakarta Sans"/>
              </a:rPr>
              <a:t>Index / Power / Exponent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650" y="2776537"/>
            <a:ext cx="6991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Tells us how many times to multiply the base by itself. (Plural: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Indices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0650" y="3529012"/>
            <a:ext cx="699135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4E3B"/>
                </a:solidFill>
                <a:latin typeface="Plus Jakarta Sans"/>
              </a:rPr>
              <a:t>Base Number (5)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0650" y="3805237"/>
            <a:ext cx="6991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The number being repeatedly multiplied: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5</a:t>
            </a:r>
            <a:r>
              <a:rPr b="1" sz="731" i="0" u="none">
                <a:solidFill>
                  <a:srgbClr val="475569"/>
                </a:solidFill>
                <a:latin typeface="Plus Jakarta Sans"/>
              </a:rPr>
              <a:t>4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= 5 × 5 × 5 × 5 = 625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1150" y="4557712"/>
            <a:ext cx="68008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Common Misconception Alert!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3025" y="4776787"/>
            <a:ext cx="6286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F1D1D"/>
                </a:solidFill>
                <a:latin typeface="Plus Jakarta Sans"/>
              </a:rPr>
              <a:t>5</a:t>
            </a:r>
            <a:r>
              <a:rPr b="1" sz="682" i="0" u="none">
                <a:solidFill>
                  <a:srgbClr val="7F1D1D"/>
                </a:solidFill>
                <a:latin typeface="Plus Jakarta Sans"/>
              </a:rPr>
              <a:t>4</a:t>
            </a:r>
            <a:r>
              <a:rPr b="1" sz="1050" i="0" u="none">
                <a:solidFill>
                  <a:srgbClr val="7F1D1D"/>
                </a:solidFill>
                <a:latin typeface="Plus Jakarta Sans"/>
              </a:rPr>
              <a:t> is NOT 5 × 4!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Always calculate repeated multiplication, not simple product: 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5</a:t>
            </a:r>
            <a:r>
              <a:rPr b="0" sz="682" i="0" u="none">
                <a:solidFill>
                  <a:srgbClr val="7F1D1D"/>
                </a:solidFill>
                <a:latin typeface="Plus Jakarta Sans"/>
              </a:rPr>
              <a:t>4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= 625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, whereas 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5 × 4 = 20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123950"/>
          </a:xfrm>
          <a:prstGeom prst="roundRect">
            <a:avLst>
              <a:gd name="adj" fmla="val 13559"/>
            </a:avLst>
          </a:prstGeom>
          <a:solidFill>
            <a:srgbClr val="058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1300" y="514350"/>
            <a:ext cx="1181100" cy="2667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29725" y="1362075"/>
            <a:ext cx="2047875" cy="609600"/>
          </a:xfrm>
          <a:prstGeom prst="roundRect">
            <a:avLst>
              <a:gd name="adj" fmla="val 18750"/>
            </a:avLst>
          </a:prstGeom>
          <a:solidFill>
            <a:srgbClr val="2B9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5838825"/>
            <a:ext cx="4895850" cy="400050"/>
          </a:xfrm>
          <a:prstGeom prst="roundRect">
            <a:avLst>
              <a:gd name="adj" fmla="val 2380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386137"/>
            <a:ext cx="4895850" cy="523875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305752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425" y="3771900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8425" y="448627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5981700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719387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719387"/>
            <a:ext cx="123825" cy="161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34650" y="571500"/>
            <a:ext cx="1009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Plus Jakarta Sans"/>
              </a:rPr>
              <a:t>Ingenio Rule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075" y="1476375"/>
            <a:ext cx="16859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Plus Jakarta Sans"/>
              </a:rPr>
              <a:t>Key Action</a:t>
            </a:r>
            <a:r>
              <a:rPr b="1" sz="1125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D1FAE5"/>
                </a:solidFill>
                <a:latin typeface="Plus Jakarta Sans"/>
              </a:rPr>
              <a:t>ADD the indices together!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6762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LAW 1 • PRODUCT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52450"/>
            <a:ext cx="7100887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Multiplying Powers with the Same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33500"/>
            <a:ext cx="3524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7F3D0"/>
                </a:solidFill>
                <a:latin typeface="Plus Jakarta Sans"/>
              </a:rPr>
              <a:t>GENERAL ALGEBRAIC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543050"/>
            <a:ext cx="35242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JetBrains Mono"/>
              </a:rPr>
              <a:t>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× 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n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= 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 +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5953125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Plus Jakarta Sans"/>
              </a:rPr>
              <a:t>Bases MUST be identical to apply this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2695575"/>
            <a:ext cx="55054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Worked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695575"/>
            <a:ext cx="6215776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Why Does It Work?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019425"/>
            <a:ext cx="6119812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Expand the terms in long multiplication form: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143" y="3538537"/>
            <a:ext cx="581501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877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3</a:t>
            </a:r>
            <a:r>
              <a:rPr b="0" sz="877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= (3 × 3) × (3 × 3 × 3 ×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743" y="4024312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Total of 2 + 4 = 6 factors of 3 → </a:t>
            </a:r>
            <a:r>
              <a:rPr b="1" sz="1050" i="0" u="none">
                <a:solidFill>
                  <a:srgbClr val="059669"/>
                </a:solidFill>
                <a:latin typeface="Plus Jakarta Sans"/>
              </a:rPr>
              <a:t>3</a:t>
            </a:r>
            <a:r>
              <a:rPr b="1" sz="682" i="0" u="none">
                <a:solidFill>
                  <a:srgbClr val="059669"/>
                </a:solidFill>
                <a:latin typeface="Plus Jakarta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18135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33375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× 7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7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3 + 5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7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895725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2 (Power of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0481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× 2 = 2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1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2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 + 1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2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5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= 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461010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3 (Multiple terms)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350" y="476250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× 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× 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 + 3 + 4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5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123950"/>
          </a:xfrm>
          <a:prstGeom prst="roundRect">
            <a:avLst>
              <a:gd name="adj" fmla="val 13559"/>
            </a:avLst>
          </a:prstGeom>
          <a:solidFill>
            <a:srgbClr val="03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2725" y="514350"/>
            <a:ext cx="1209675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01175" y="1362075"/>
            <a:ext cx="1876425" cy="609600"/>
          </a:xfrm>
          <a:prstGeom prst="roundRect">
            <a:avLst>
              <a:gd name="adj" fmla="val 18750"/>
            </a:avLst>
          </a:prstGeom>
          <a:solidFill>
            <a:srgbClr val="298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5838825"/>
            <a:ext cx="4895850" cy="400050"/>
          </a:xfrm>
          <a:prstGeom prst="roundRect">
            <a:avLst>
              <a:gd name="adj" fmla="val 2380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386137"/>
            <a:ext cx="4895850" cy="514350"/>
          </a:xfrm>
          <a:prstGeom prst="roundRect">
            <a:avLst>
              <a:gd name="adj" fmla="val 1851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305752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425" y="3771900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8425" y="448627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5981700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719387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719387"/>
            <a:ext cx="161925" cy="161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06075" y="571500"/>
            <a:ext cx="1038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Ingenio Rule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4525" y="1476375"/>
            <a:ext cx="15144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Plus Jakarta Sans"/>
              </a:rPr>
              <a:t>Key Action</a:t>
            </a:r>
            <a:r>
              <a:rPr b="1" sz="1125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F8FAFC"/>
                </a:solidFill>
                <a:latin typeface="Plus Jakarta Sans"/>
              </a:rPr>
              <a:t>SUBTRACT the indices!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6226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LAW 2 • QUOTIENT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52450"/>
            <a:ext cx="6538317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Dividing Powers with the Same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33500"/>
            <a:ext cx="5060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AE6FD"/>
                </a:solidFill>
                <a:latin typeface="Plus Jakarta Sans"/>
              </a:rPr>
              <a:t>GENERAL ALGEBRAIC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543050"/>
            <a:ext cx="506015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JetBrains Mono"/>
              </a:rPr>
              <a:t>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÷ 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n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= </a:t>
            </a:r>
            <a:r>
              <a:rPr b="1" sz="1350" i="0" u="none">
                <a:solidFill>
                  <a:srgbClr val="FFFFFF"/>
                </a:solidFill>
                <a:latin typeface="JetBrains Mono"/>
              </a:rPr>
              <a:t>a</a:t>
            </a:r>
            <a:r>
              <a:rPr b="1" sz="877" i="0" u="none">
                <a:solidFill>
                  <a:srgbClr val="FFFFFF"/>
                </a:solidFill>
                <a:latin typeface="JetBrains Mono"/>
              </a:rPr>
              <a:t>m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/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a</a:t>
            </a:r>
            <a:r>
              <a:rPr b="1" sz="1140" i="0" u="none">
                <a:solidFill>
                  <a:srgbClr val="FFFFFF"/>
                </a:solidFill>
                <a:latin typeface="JetBrains Mono"/>
              </a:rPr>
              <a:t>n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= 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 -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5953125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Fraction bar always means division!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2695575"/>
            <a:ext cx="55054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Worked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" y="2695575"/>
            <a:ext cx="6175771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Cancelling Factors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019425"/>
            <a:ext cx="6119812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Write as a fraction and cancel common base factors: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143" y="3538537"/>
            <a:ext cx="581501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JetBrains Mono"/>
              </a:rPr>
              <a:t>6 × 6 × 6 × 6 × 6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/ 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6 × 6 × 6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= 6 × 6 = 6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743" y="4014787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5 factors minus 3 factors leaves 5 - 3 = 2 factors → </a:t>
            </a:r>
            <a:r>
              <a:rPr b="1" sz="1050" i="0" u="none">
                <a:solidFill>
                  <a:srgbClr val="0284C7"/>
                </a:solidFill>
                <a:latin typeface="Plus Jakarta Sans"/>
              </a:rPr>
              <a:t>6</a:t>
            </a:r>
            <a:r>
              <a:rPr b="1" sz="682" i="0" u="none">
                <a:solidFill>
                  <a:srgbClr val="0284C7"/>
                </a:solidFill>
                <a:latin typeface="Plus Jakarta Sans"/>
              </a:rPr>
              <a:t>2</a:t>
            </a:r>
            <a:r>
              <a:rPr b="1" sz="1050" i="0" u="none">
                <a:solidFill>
                  <a:srgbClr val="0284C7"/>
                </a:solidFill>
                <a:latin typeface="Plus Jakarta Sans"/>
              </a:rPr>
              <a:t> = 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18135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33375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÷ 9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9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7 - 3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9</a:t>
            </a:r>
            <a:r>
              <a:rPr b="1" sz="780" i="0" u="none">
                <a:solidFill>
                  <a:srgbClr val="0284C7"/>
                </a:solidFill>
                <a:latin typeface="JetBrains Mon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895725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2 (Fraction Format)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0481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468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507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4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9 - 6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4</a:t>
            </a:r>
            <a:r>
              <a:rPr b="1" sz="780" i="0" u="none">
                <a:solidFill>
                  <a:srgbClr val="0284C7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 = 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461010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3 (Evaluating Value)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350" y="476250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÷ 3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3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8 - 4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3</a:t>
            </a:r>
            <a:r>
              <a:rPr b="1" sz="780" i="0" u="none">
                <a:solidFill>
                  <a:srgbClr val="0284C7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 = 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123950"/>
          </a:xfrm>
          <a:prstGeom prst="roundRect">
            <a:avLst>
              <a:gd name="adj" fmla="val 13559"/>
            </a:avLst>
          </a:prstGeom>
          <a:solidFill>
            <a:srgbClr val="C76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2725" y="514350"/>
            <a:ext cx="1209675" cy="266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6450" y="1362075"/>
            <a:ext cx="1581150" cy="609600"/>
          </a:xfrm>
          <a:prstGeom prst="roundRect">
            <a:avLst>
              <a:gd name="adj" fmla="val 18750"/>
            </a:avLst>
          </a:prstGeom>
          <a:solidFill>
            <a:srgbClr val="CF7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5838825"/>
            <a:ext cx="4895850" cy="400050"/>
          </a:xfrm>
          <a:prstGeom prst="roundRect">
            <a:avLst>
              <a:gd name="adj" fmla="val 23809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386137"/>
            <a:ext cx="4895850" cy="853380"/>
          </a:xfrm>
          <a:prstGeom prst="roundRect">
            <a:avLst>
              <a:gd name="adj" fmla="val 1116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305752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425" y="3771900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8425" y="448627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719387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19387"/>
            <a:ext cx="20002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06075" y="571500"/>
            <a:ext cx="1038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Ingenio Rule 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476375"/>
            <a:ext cx="1219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Plus Jakarta Sans"/>
              </a:rPr>
              <a:t>Universal Result</a:t>
            </a:r>
            <a:r>
              <a:rPr b="1" sz="1125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F8FAFC"/>
                </a:solidFill>
                <a:latin typeface="Plus Jakarta Sans"/>
              </a:rPr>
              <a:t>ALWAYS equals 1!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650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LAW 3 • ZERO EXPONENT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52450"/>
            <a:ext cx="6825853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Raising Any Number to the Power of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333500"/>
            <a:ext cx="388162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DE68A"/>
                </a:solidFill>
                <a:latin typeface="Plus Jakarta Sans"/>
              </a:rPr>
              <a:t>GENERAL ALGEBRAIC 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543050"/>
            <a:ext cx="388162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JetBrains Mono"/>
              </a:rPr>
              <a:t>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0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= 1 </a:t>
            </a:r>
            <a:r>
              <a:rPr b="0" sz="1500" i="0" u="none">
                <a:solidFill>
                  <a:srgbClr val="FDE68A"/>
                </a:solidFill>
                <a:latin typeface="JetBrains Mono"/>
              </a:rPr>
              <a:t>(for any a ≠ 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953125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Therefore: 5</a:t>
            </a:r>
            <a:r>
              <a:rPr b="1" sz="633" i="0" u="none">
                <a:solidFill>
                  <a:srgbClr val="92400E"/>
                </a:solidFill>
                <a:latin typeface="Plus Jakarta Sans"/>
              </a:rPr>
              <a:t>0</a:t>
            </a:r>
            <a:r>
              <a:rPr b="1" sz="975" i="0" u="none">
                <a:solidFill>
                  <a:srgbClr val="92400E"/>
                </a:solidFill>
                <a:latin typeface="Plus Jakarta Sans"/>
              </a:rPr>
              <a:t> MUST equal 1!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2695575"/>
            <a:ext cx="55054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Crucial Distinction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2695575"/>
            <a:ext cx="6135766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Mathematical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019425"/>
            <a:ext cx="6119812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Consider dividing a power by itself using two methods: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3538537"/>
            <a:ext cx="46863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0F172A"/>
                </a:solidFill>
                <a:latin typeface="JetBrains Mono"/>
              </a:rPr>
              <a:t>Method 1 (Index Law): 5</a:t>
            </a:r>
            <a:r>
              <a:rPr b="0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÷ 5</a:t>
            </a:r>
            <a:r>
              <a:rPr b="0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= 5</a:t>
            </a:r>
            <a:r>
              <a:rPr b="0" sz="780" i="0" u="none">
                <a:solidFill>
                  <a:srgbClr val="0F172A"/>
                </a:solidFill>
                <a:latin typeface="JetBrains Mono"/>
              </a:rPr>
              <a:t>3 - 3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t>
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Method 2 (Arithmetic): 125 ÷ 125 = 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350" y="318135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CASE 1: Pure 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333375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D97706"/>
                </a:solidFill>
                <a:latin typeface="JetBrains Mono"/>
              </a:rPr>
              <a:t>1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  |   14,250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D97706"/>
                </a:solidFill>
                <a:latin typeface="JetBrains Mon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895725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CASE 2: Multiplied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40481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6 × 7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6 × (1) = </a:t>
            </a:r>
            <a:r>
              <a:rPr b="1" sz="1200" i="0" u="none">
                <a:solidFill>
                  <a:srgbClr val="D97706"/>
                </a:solidFill>
                <a:latin typeface="JetBrains Mon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461010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CASE 3: Bracketed Expression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76250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(6 × 7)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(42)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D97706"/>
                </a:solidFill>
                <a:latin typeface="JetBrains Mono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123950"/>
          </a:xfrm>
          <a:prstGeom prst="roundRect">
            <a:avLst>
              <a:gd name="adj" fmla="val 13559"/>
            </a:avLst>
          </a:prstGeom>
          <a:solidFill>
            <a:srgbClr val="753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63200" y="5143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86900" y="1362075"/>
            <a:ext cx="1790700" cy="609600"/>
          </a:xfrm>
          <a:prstGeom prst="roundRect">
            <a:avLst>
              <a:gd name="adj" fmla="val 18750"/>
            </a:avLst>
          </a:prstGeom>
          <a:solidFill>
            <a:srgbClr val="8A5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457450"/>
            <a:ext cx="53721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5838825"/>
            <a:ext cx="4895850" cy="400050"/>
          </a:xfrm>
          <a:prstGeom prst="roundRect">
            <a:avLst>
              <a:gd name="adj" fmla="val 23809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386137"/>
            <a:ext cx="4895850" cy="514350"/>
          </a:xfrm>
          <a:prstGeom prst="roundRect">
            <a:avLst>
              <a:gd name="adj" fmla="val 1851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305752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425" y="3771900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8425" y="4486275"/>
            <a:ext cx="489585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5981700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719387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719387"/>
            <a:ext cx="142875" cy="161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96550" y="571500"/>
            <a:ext cx="1047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Plus Jakarta Sans"/>
              </a:rPr>
              <a:t>Ingenio Rule 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0" y="1476375"/>
            <a:ext cx="1428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Plus Jakarta Sans"/>
              </a:rPr>
              <a:t>Key Action</a:t>
            </a:r>
            <a:r>
              <a:rPr b="1" sz="1125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DDD6FE"/>
                </a:solidFill>
                <a:latin typeface="Plus Jakarta Sans"/>
              </a:rPr>
              <a:t>MULTIPLY the indices!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4607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C3AED"/>
                </a:solidFill>
                <a:latin typeface="Plus Jakarta Sans"/>
              </a:rPr>
              <a:t>LAW 4 • POWER OF A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52450"/>
            <a:ext cx="4838104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Raising a Power to a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33500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DD6FE"/>
                </a:solidFill>
                <a:latin typeface="Plus Jakarta Sans"/>
              </a:rPr>
              <a:t>GENERAL ALGEBRAIC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543050"/>
            <a:ext cx="30003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JetBrains Mono"/>
              </a:rPr>
              <a:t>(a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)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n</a:t>
            </a:r>
            <a:r>
              <a:rPr b="1" sz="2700" i="0" u="none">
                <a:solidFill>
                  <a:srgbClr val="FFFFFF"/>
                </a:solidFill>
                <a:latin typeface="JetBrains Mono"/>
              </a:rPr>
              <a:t> = a</a:t>
            </a:r>
            <a:r>
              <a:rPr b="1" sz="1754" i="0" u="none">
                <a:solidFill>
                  <a:srgbClr val="FFFFFF"/>
                </a:solidFill>
                <a:latin typeface="JetBrains Mono"/>
              </a:rPr>
              <a:t>m ×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5953125"/>
            <a:ext cx="476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Plus Jakarta Sans"/>
              </a:rPr>
              <a:t>Don't confuse (a</a:t>
            </a:r>
            <a:r>
              <a:rPr b="1" sz="633" i="0" u="none">
                <a:solidFill>
                  <a:srgbClr val="6B21A8"/>
                </a:solidFill>
                <a:latin typeface="Plus Jakarta Sans"/>
              </a:rPr>
              <a:t>m</a:t>
            </a:r>
            <a:r>
              <a:rPr b="1" sz="975" i="0" u="none">
                <a:solidFill>
                  <a:srgbClr val="6B21A8"/>
                </a:solidFill>
                <a:latin typeface="Plus Jakarta Sans"/>
              </a:rPr>
              <a:t>)</a:t>
            </a:r>
            <a:r>
              <a:rPr b="1" sz="633" i="0" u="none">
                <a:solidFill>
                  <a:srgbClr val="6B21A8"/>
                </a:solidFill>
                <a:latin typeface="Plus Jakarta Sans"/>
              </a:rPr>
              <a:t>n</a:t>
            </a:r>
            <a:r>
              <a:rPr b="1" sz="975" i="0" u="none">
                <a:solidFill>
                  <a:srgbClr val="6B21A8"/>
                </a:solidFill>
                <a:latin typeface="Plus Jakarta Sans"/>
              </a:rPr>
              <a:t> with a</a:t>
            </a:r>
            <a:r>
              <a:rPr b="1" sz="633" i="0" u="none">
                <a:solidFill>
                  <a:srgbClr val="6B21A8"/>
                </a:solidFill>
                <a:latin typeface="Plus Jakarta Sans"/>
              </a:rPr>
              <a:t>m</a:t>
            </a:r>
            <a:r>
              <a:rPr b="1" sz="975" i="0" u="none">
                <a:solidFill>
                  <a:srgbClr val="6B21A8"/>
                </a:solidFill>
                <a:latin typeface="Plus Jakarta Sans"/>
              </a:rPr>
              <a:t> × a</a:t>
            </a:r>
            <a:r>
              <a:rPr b="1" sz="633" i="0" u="none">
                <a:solidFill>
                  <a:srgbClr val="6B21A8"/>
                </a:solidFill>
                <a:latin typeface="Plus Jakarta Sans"/>
              </a:rPr>
              <a:t>n</a:t>
            </a:r>
            <a:r>
              <a:rPr b="1" sz="975" i="0" u="none">
                <a:solidFill>
                  <a:srgbClr val="6B21A8"/>
                </a:solidFill>
                <a:latin typeface="Plus Jakarta San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2695575"/>
            <a:ext cx="55054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Worked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2695575"/>
            <a:ext cx="6195774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Expanded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019425"/>
            <a:ext cx="6119812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The outer index applies to the entire inner power: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143" y="3538537"/>
            <a:ext cx="581501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0F172A"/>
                </a:solidFill>
                <a:latin typeface="JetBrains Mono"/>
              </a:rPr>
              <a:t>(2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= 2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275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0" sz="828" i="0" u="none">
                <a:solidFill>
                  <a:srgbClr val="0F172A"/>
                </a:solidFill>
                <a:latin typeface="JetBrains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743" y="4014787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Adding 3 + 3 + 3 + 3 = 3 × 4 = 12 → </a:t>
            </a:r>
            <a:r>
              <a:rPr b="1" sz="1050" i="0" u="none">
                <a:solidFill>
                  <a:srgbClr val="7C3AED"/>
                </a:solidFill>
                <a:latin typeface="Plus Jakarta Sans"/>
              </a:rPr>
              <a:t>2</a:t>
            </a:r>
            <a:r>
              <a:rPr b="1" sz="682" i="0" u="none">
                <a:solidFill>
                  <a:srgbClr val="7C3AED"/>
                </a:solidFill>
                <a:latin typeface="Plus Jakarta Sans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18135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33375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(5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5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 × 3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7C3AED"/>
                </a:solidFill>
                <a:latin typeface="JetBrains Mono"/>
              </a:rPr>
              <a:t>5</a:t>
            </a:r>
            <a:r>
              <a:rPr b="1" sz="780" i="0" u="none">
                <a:solidFill>
                  <a:srgbClr val="7C3AED"/>
                </a:solidFill>
                <a:latin typeface="JetBrains Mon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895725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2 (Power of Zero)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4048125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(8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8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4 × 0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7C3AED"/>
                </a:solidFill>
                <a:latin typeface="JetBrains Mono"/>
              </a:rPr>
              <a:t>8</a:t>
            </a:r>
            <a:r>
              <a:rPr b="1" sz="780" i="0" u="none">
                <a:solidFill>
                  <a:srgbClr val="7C3AED"/>
                </a:solidFill>
                <a:latin typeface="JetBrains Mono"/>
              </a:rPr>
              <a:t>0</a:t>
            </a:r>
            <a:r>
              <a:rPr b="1" sz="1200" i="0" u="none">
                <a:solidFill>
                  <a:srgbClr val="7C3AED"/>
                </a:solidFill>
                <a:latin typeface="JetBrains Mono"/>
              </a:rPr>
              <a:t> =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461010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EXAMPLE 3 (Evaluating Small Bases)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350" y="4762500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(3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3</a:t>
            </a:r>
            <a:r>
              <a:rPr b="1" sz="780" i="0" u="none">
                <a:solidFill>
                  <a:srgbClr val="0F172A"/>
                </a:solidFill>
                <a:latin typeface="JetBrains Mono"/>
              </a:rPr>
              <a:t>2 × 2</a:t>
            </a:r>
            <a:r>
              <a:rPr b="1" sz="120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200" i="0" u="none">
                <a:solidFill>
                  <a:srgbClr val="7C3AED"/>
                </a:solidFill>
                <a:latin typeface="JetBrains Mono"/>
              </a:rPr>
              <a:t>3</a:t>
            </a:r>
            <a:r>
              <a:rPr b="1" sz="780" i="0" u="none">
                <a:solidFill>
                  <a:srgbClr val="7C3AED"/>
                </a:solidFill>
                <a:latin typeface="JetBrains Mono"/>
              </a:rPr>
              <a:t>4</a:t>
            </a:r>
            <a:r>
              <a:rPr b="1" sz="1200" i="0" u="none">
                <a:solidFill>
                  <a:srgbClr val="7C3AED"/>
                </a:solidFill>
                <a:latin typeface="JetBrains Mono"/>
              </a:rPr>
              <a:t> = 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3175" y="514350"/>
            <a:ext cx="1419225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81250"/>
            <a:ext cx="3530649" cy="409575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2381250"/>
            <a:ext cx="3530649" cy="409575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2381250"/>
            <a:ext cx="3530649" cy="409575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467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81250"/>
            <a:ext cx="3530649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0724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749" y="6467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749" y="2381250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1874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6467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2381250"/>
            <a:ext cx="3530649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3023" y="2381250"/>
            <a:ext cx="9525" cy="409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" y="2619375"/>
            <a:ext cx="542925" cy="21907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625" y="3495675"/>
            <a:ext cx="3130599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30774" y="2619375"/>
            <a:ext cx="561975" cy="2190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30774" y="3495675"/>
            <a:ext cx="3130599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51924" y="2619375"/>
            <a:ext cx="561975" cy="2190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51924" y="3495675"/>
            <a:ext cx="3130599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-285750" y="1295400"/>
            <a:ext cx="12763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EXAM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6525" y="571500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730A3"/>
                </a:solidFill>
                <a:latin typeface="Plus Jakarta Sans"/>
              </a:rPr>
              <a:t>2-Step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255984" y="1543050"/>
            <a:ext cx="12703968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JetBrains Mono"/>
              </a:rPr>
              <a:t>Simplify and evaluate:   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2400" i="0" u="none">
                <a:solidFill>
                  <a:srgbClr val="0F172A"/>
                </a:solidFill>
                <a:latin typeface="JetBrains Mono"/>
              </a:rPr>
              <a:t> / </a:t>
            </a:r>
            <a:r>
              <a:rPr b="1" sz="156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81000"/>
            <a:ext cx="6203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MULTI-STEP MASTERY • TYPE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52450"/>
            <a:ext cx="6513314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Combining Multiplication &amp; Division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6115050"/>
            <a:ext cx="39132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Result: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2</a:t>
            </a:r>
            <a:r>
              <a:rPr b="1" sz="633" i="0" u="none">
                <a:solidFill>
                  <a:srgbClr val="64748B"/>
                </a:solidFill>
                <a:latin typeface="Plus Jakarta Sans"/>
              </a:rPr>
              <a:t>12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 / 2</a:t>
            </a:r>
            <a:r>
              <a:rPr b="1" sz="633" i="0" u="none">
                <a:solidFill>
                  <a:srgbClr val="64748B"/>
                </a:solidFill>
                <a:latin typeface="Plus Jakarta San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0774" y="6115050"/>
            <a:ext cx="39132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Index Form: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2</a:t>
            </a:r>
            <a:r>
              <a:rPr b="1" sz="633" i="0" u="none">
                <a:solidFill>
                  <a:srgbClr val="64748B"/>
                </a:solidFill>
                <a:latin typeface="Plus Jakarta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1924" y="6115050"/>
            <a:ext cx="39132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Final Value: </a:t>
            </a:r>
            <a:r>
              <a:rPr b="1" sz="975" i="0" u="none">
                <a:solidFill>
                  <a:srgbClr val="4F46E5"/>
                </a:solidFill>
                <a:latin typeface="Plus Jakarta Sans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875" y="265747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65F46"/>
                </a:solidFill>
                <a:latin typeface="Plus Jakarta Sans"/>
              </a:rPr>
              <a:t>STEP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933700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Simplify Top Numerator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32099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Apply Product Law (ADD indices):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600" y="3609975"/>
            <a:ext cx="36846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59669"/>
                </a:solidFill>
                <a:latin typeface="JetBrains Mono"/>
              </a:rPr>
              <a:t>2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7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× 2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5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= 2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7 + 5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= 2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024" y="2657475"/>
            <a:ext cx="466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STEP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0774" y="2933700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Apply Division Law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0774" y="32099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Apply Quotient Law (SUBTRACT indices):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3749" y="3609975"/>
            <a:ext cx="36846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JetBrains Mono"/>
              </a:rPr>
              <a:t>2</a:t>
            </a:r>
            <a:r>
              <a:rPr b="1" sz="780" i="0" u="none">
                <a:solidFill>
                  <a:srgbClr val="0284C7"/>
                </a:solidFill>
                <a:latin typeface="JetBrains Mono"/>
              </a:rPr>
              <a:t>12 - 9</a:t>
            </a:r>
            <a:r>
              <a:rPr b="1" sz="1200" i="0" u="none">
                <a:solidFill>
                  <a:srgbClr val="0284C7"/>
                </a:solidFill>
                <a:latin typeface="JetBrains Mono"/>
              </a:rPr>
              <a:t> = 2</a:t>
            </a:r>
            <a:r>
              <a:rPr b="1" sz="780" i="0" u="none">
                <a:solidFill>
                  <a:srgbClr val="0284C7"/>
                </a:solidFill>
                <a:latin typeface="JetBrains Mono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7174" y="2657475"/>
            <a:ext cx="466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STEP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1924" y="2933700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Evaluate Final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1924" y="32099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Calculate final single number: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4899" y="3609975"/>
            <a:ext cx="36846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JetBrains Mono"/>
              </a:rPr>
              <a:t>2 × 2 × 2 =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34600" y="514350"/>
            <a:ext cx="1447800" cy="2667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81250"/>
            <a:ext cx="6351240" cy="409575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9440" y="2381250"/>
            <a:ext cx="4392959" cy="409575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5867400"/>
            <a:ext cx="587499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7565" y="5686425"/>
            <a:ext cx="3916709" cy="552450"/>
          </a:xfrm>
          <a:prstGeom prst="roundRect">
            <a:avLst>
              <a:gd name="adj" fmla="val 1724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65" y="2643187"/>
            <a:ext cx="161925" cy="161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285750" y="1295400"/>
            <a:ext cx="12763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COMPLEX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7950" y="571500"/>
            <a:ext cx="1276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Plus Jakarta Sans"/>
              </a:rPr>
              <a:t>Brackets +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5984" y="1543050"/>
            <a:ext cx="12703968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JetBrains Mono"/>
              </a:rPr>
              <a:t>Simplify as a single power of 3:   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(3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2400" i="0" u="none">
                <a:solidFill>
                  <a:srgbClr val="0F172A"/>
                </a:solidFill>
                <a:latin typeface="JetBrains Mono"/>
              </a:rPr>
              <a:t> / </a:t>
            </a:r>
            <a:r>
              <a:rPr b="1" sz="156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1560" i="0" u="none">
                <a:solidFill>
                  <a:srgbClr val="0F172A"/>
                </a:solidFill>
                <a:latin typeface="JetBrains Mono"/>
              </a:rPr>
              <a:t> × 3</a:t>
            </a:r>
            <a:r>
              <a:rPr b="1" sz="1014" i="0" u="none">
                <a:solidFill>
                  <a:srgbClr val="0F172A"/>
                </a:solidFill>
                <a:latin typeface="JetBrains Mon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5191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C3AED"/>
                </a:solidFill>
                <a:latin typeface="Plus Jakarta Sans"/>
              </a:rPr>
              <a:t>MULTI-STEP MASTERY • TYPE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2450"/>
            <a:ext cx="5450681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Powers of Powers in Fractions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5962650"/>
            <a:ext cx="57035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Evaluated Answer: </a:t>
            </a:r>
            <a:r>
              <a:rPr b="1" sz="975" i="0" u="none">
                <a:solidFill>
                  <a:srgbClr val="0F172A"/>
                </a:solidFill>
                <a:latin typeface="Plus Jakarta Sans"/>
              </a:rPr>
              <a:t>3</a:t>
            </a:r>
            <a:r>
              <a:rPr b="1" sz="633" i="0" u="none">
                <a:solidFill>
                  <a:srgbClr val="0F172A"/>
                </a:solidFill>
                <a:latin typeface="Plus Jakarta Sans"/>
              </a:rPr>
              <a:t>3</a:t>
            </a:r>
            <a:r>
              <a:rPr b="1" sz="975" i="0" u="none">
                <a:solidFill>
                  <a:srgbClr val="0F172A"/>
                </a:solidFill>
                <a:latin typeface="Plus Jakarta Sans"/>
              </a:rPr>
              <a:t> =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1865" y="5800725"/>
            <a:ext cx="378335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Watch out:</a:t>
            </a:r>
            <a:r>
              <a:rPr b="0" sz="975" i="0" u="none">
                <a:solidFill>
                  <a:srgbClr val="991B1B"/>
                </a:solidFill>
                <a:latin typeface="Plus Jakarta Sans"/>
              </a:rPr>
              <a:t> Do not subtract before evaluating the numerator bracket!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619375"/>
            <a:ext cx="771092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Sequential Simplification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5690" y="2619375"/>
            <a:ext cx="4526309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Order of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962275"/>
            <a:ext cx="73437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C3AED"/>
                </a:solidFill>
                <a:latin typeface="Plus Jakarta Sans"/>
              </a:rPr>
              <a:t>1. NUMERATOR BRACKETS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114675"/>
            <a:ext cx="73437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(3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2 × 5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419475"/>
            <a:ext cx="73437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2. DENOMINATOR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571875"/>
            <a:ext cx="73437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× 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4 + 3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876675"/>
            <a:ext cx="73437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3. FINAL QUOTIENT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029075"/>
            <a:ext cx="597024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10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÷ 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3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10 - 7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350" i="0" u="none">
                <a:solidFill>
                  <a:srgbClr val="7C3AED"/>
                </a:solidFill>
                <a:latin typeface="JetBrains Mono"/>
              </a:rPr>
              <a:t>3</a:t>
            </a:r>
            <a:r>
              <a:rPr b="1" sz="877" i="0" u="none">
                <a:solidFill>
                  <a:srgbClr val="7C3AED"/>
                </a:solidFill>
                <a:latin typeface="JetBrains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2815" y="294513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9015" y="2943225"/>
            <a:ext cx="4592984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Always clear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brackets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first using $(a^m)^n = a^{m \times n}$.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2815" y="315840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9015" y="3156495"/>
            <a:ext cx="4592984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Simplify top and bottom into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single powers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2815" y="337167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9015" y="3369766"/>
            <a:ext cx="4592984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Perform the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final division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by subtracting powers.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72725" y="514350"/>
            <a:ext cx="1209675" cy="2667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104900"/>
            <a:ext cx="5372100" cy="537210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04900"/>
            <a:ext cx="5372100" cy="537210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5791200"/>
            <a:ext cx="4895850" cy="447675"/>
          </a:xfrm>
          <a:prstGeom prst="roundRect">
            <a:avLst>
              <a:gd name="adj" fmla="val 2127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8425" y="5791200"/>
            <a:ext cx="4895850" cy="447675"/>
          </a:xfrm>
          <a:prstGeom prst="roundRect">
            <a:avLst>
              <a:gd name="adj" fmla="val 21276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1352550"/>
            <a:ext cx="828675" cy="2190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8425" y="1352550"/>
            <a:ext cx="847725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2114550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2581275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3048000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8425" y="2114550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8425" y="2581275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8425" y="3048000"/>
            <a:ext cx="4895850" cy="371475"/>
          </a:xfrm>
          <a:prstGeom prst="roundRect">
            <a:avLst>
              <a:gd name="adj" fmla="val 205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06075" y="571500"/>
            <a:ext cx="1038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Plus Jakarta Sans"/>
              </a:rPr>
              <a:t>Higher Tier 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5310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MULTI-STEP MASTERY • TYPE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52450"/>
            <a:ext cx="5575696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3-Law Combined Calculations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5905500"/>
            <a:ext cx="4762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65F46"/>
                </a:solidFill>
                <a:latin typeface="Plus Jakarta Sans"/>
              </a:rPr>
              <a:t>Final Answer: </a:t>
            </a:r>
            <a:r>
              <a:rPr b="1" sz="1125" i="0" u="none">
                <a:solidFill>
                  <a:srgbClr val="065F46"/>
                </a:solidFill>
                <a:latin typeface="Plus Jakarta Sans"/>
              </a:rPr>
              <a:t>4</a:t>
            </a:r>
            <a:r>
              <a:rPr b="1" sz="731" i="0" u="none">
                <a:solidFill>
                  <a:srgbClr val="065F46"/>
                </a:solidFill>
                <a:latin typeface="Plus Jakarta Sans"/>
              </a:rPr>
              <a:t>3</a:t>
            </a:r>
            <a:r>
              <a:rPr b="1" sz="1125" i="0" u="none">
                <a:solidFill>
                  <a:srgbClr val="065F46"/>
                </a:solidFill>
                <a:latin typeface="Plus Jakarta Sans"/>
              </a:rPr>
              <a:t> = 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5905500"/>
            <a:ext cx="4762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Plus Jakarta Sans"/>
              </a:rPr>
              <a:t>Final Answer: </a:t>
            </a:r>
            <a:r>
              <a:rPr b="1" sz="1125" i="0" u="none">
                <a:solidFill>
                  <a:srgbClr val="92400E"/>
                </a:solidFill>
                <a:latin typeface="Plus Jakarta Sans"/>
              </a:rPr>
              <a:t>10</a:t>
            </a:r>
            <a:r>
              <a:rPr b="1" sz="731" i="0" u="none">
                <a:solidFill>
                  <a:srgbClr val="92400E"/>
                </a:solidFill>
                <a:latin typeface="Plus Jakarta Sans"/>
              </a:rPr>
              <a:t>0</a:t>
            </a:r>
            <a:r>
              <a:rPr b="1" sz="1125" i="0" u="none">
                <a:solidFill>
                  <a:srgbClr val="92400E"/>
                </a:solidFill>
                <a:latin typeface="Plus Jakarta Sans"/>
              </a:rPr>
              <a:t>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" y="1390650"/>
            <a:ext cx="73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PROBLEM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1685925"/>
            <a:ext cx="6119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JetBrains Mono"/>
              </a:rPr>
              <a:t>(4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 × 4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650" i="0" u="none">
                <a:solidFill>
                  <a:srgbClr val="0F172A"/>
                </a:solidFill>
                <a:latin typeface="JetBrains Mono"/>
              </a:rPr>
              <a:t> / </a:t>
            </a:r>
            <a:r>
              <a:rPr b="1" sz="1072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1390650"/>
            <a:ext cx="752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PROBLEM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1685925"/>
            <a:ext cx="57435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JetBrains Mono"/>
              </a:rPr>
              <a:t>10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1" sz="1650" i="0" u="none">
                <a:solidFill>
                  <a:srgbClr val="0F172A"/>
                </a:solidFill>
                <a:latin typeface="JetBrains Mono"/>
              </a:rPr>
              <a:t> / </a:t>
            </a:r>
            <a:r>
              <a:rPr b="1" sz="1072" i="0" u="none">
                <a:solidFill>
                  <a:srgbClr val="0F172A"/>
                </a:solidFill>
                <a:latin typeface="JetBrains Mono"/>
              </a:rPr>
              <a:t>(10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072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072" i="0" u="none">
                <a:solidFill>
                  <a:srgbClr val="0F172A"/>
                </a:solidFill>
                <a:latin typeface="JetBrains Mono"/>
              </a:rPr>
              <a:t> × 10</a:t>
            </a:r>
            <a:r>
              <a:rPr b="1" sz="697" i="0" u="none">
                <a:solidFill>
                  <a:srgbClr val="0F172A"/>
                </a:solidFill>
                <a:latin typeface="JetBrains Mon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2209800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Inside Brackets: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3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× 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2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2676525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Apply Outer Power: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(4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5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)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2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3143250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Divide: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10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÷ 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7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4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2209800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Power of Power: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(10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2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)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3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3675" y="2676525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Denominator Product: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6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× 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2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3675" y="3143250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Quotient: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8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÷ 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8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=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10</a:t>
            </a:r>
            <a:r>
              <a:rPr b="0" sz="682" i="0" u="none">
                <a:solidFill>
                  <a:srgbClr val="475569"/>
                </a:solidFill>
                <a:latin typeface="Plus Jakarta Sans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39450" y="5143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9621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104900"/>
            <a:ext cx="57150" cy="866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2875" y="1104900"/>
            <a:ext cx="9525" cy="866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16217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2800350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3438525"/>
            <a:ext cx="109728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25" y="2333625"/>
            <a:ext cx="704850" cy="219075"/>
          </a:xfrm>
          <a:prstGeom prst="roundRect">
            <a:avLst>
              <a:gd name="adj" fmla="val 43478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625" y="2971800"/>
            <a:ext cx="704850" cy="219075"/>
          </a:xfrm>
          <a:prstGeom prst="roundRect">
            <a:avLst>
              <a:gd name="adj" fmla="val 43478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25" y="3633787"/>
            <a:ext cx="685800" cy="219075"/>
          </a:xfrm>
          <a:prstGeom prst="roundRect">
            <a:avLst>
              <a:gd name="adj" fmla="val 4347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5715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3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1304925"/>
            <a:ext cx="11296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1495425"/>
            <a:ext cx="105441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Work out the value of 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(6</a:t>
            </a:r>
            <a:r>
              <a:rPr b="1" sz="697" i="0" u="none">
                <a:solidFill>
                  <a:srgbClr val="0F172A"/>
                </a:solidFill>
                <a:latin typeface="Plus Jakarta Sans"/>
              </a:rPr>
              <a:t>4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)</a:t>
            </a:r>
            <a:r>
              <a:rPr b="1" sz="697" i="0" u="none">
                <a:solidFill>
                  <a:srgbClr val="0F172A"/>
                </a:solidFill>
                <a:latin typeface="Plus Jakarta Sans"/>
              </a:rPr>
              <a:t>2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 × 6</a:t>
            </a:r>
            <a:r>
              <a:rPr b="1" sz="697" i="0" u="none">
                <a:solidFill>
                  <a:srgbClr val="0F172A"/>
                </a:solidFill>
                <a:latin typeface="Plus Jakarta Sans"/>
              </a:rPr>
              <a:t>3</a:t>
            </a:r>
            <a:r>
              <a:rPr b="1" sz="1650" i="0" u="none">
                <a:solidFill>
                  <a:srgbClr val="0F172A"/>
                </a:solidFill>
                <a:latin typeface="Plus Jakarta Sans"/>
              </a:rPr>
              <a:t> / </a:t>
            </a:r>
            <a:r>
              <a:rPr b="1" sz="1072" i="0" u="none">
                <a:solidFill>
                  <a:srgbClr val="0F172A"/>
                </a:solidFill>
                <a:latin typeface="Plus Jakarta Sans"/>
              </a:rPr>
              <a:t>6</a:t>
            </a:r>
            <a:r>
              <a:rPr b="1" sz="697" i="0" u="none">
                <a:solidFill>
                  <a:srgbClr val="0F172A"/>
                </a:solidFill>
                <a:latin typeface="Plus Jakarta Sans"/>
              </a:rPr>
              <a:t>9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. Show every step clearly.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665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GCSE EXAM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52450"/>
            <a:ext cx="6988373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Edexcel / AQA Worked Exam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324100"/>
            <a:ext cx="3619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Power of power law: (6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4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)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2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 = 6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3675" y="2324100"/>
            <a:ext cx="1314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JetBrains Mono"/>
              </a:rPr>
              <a:t>6</a:t>
            </a:r>
            <a:r>
              <a:rPr b="1" sz="780" i="0" u="none">
                <a:solidFill>
                  <a:srgbClr val="4F46E5"/>
                </a:solidFill>
                <a:latin typeface="JetBrains Mono"/>
              </a:rPr>
              <a:t>8</a:t>
            </a:r>
            <a:r>
              <a:rPr b="1" sz="1200" i="0" u="none">
                <a:solidFill>
                  <a:srgbClr val="4F46E5"/>
                </a:solidFill>
                <a:latin typeface="JetBrains Mono"/>
              </a:rPr>
              <a:t> × 6</a:t>
            </a:r>
            <a:r>
              <a:rPr b="1" sz="780" i="0" u="none">
                <a:solidFill>
                  <a:srgbClr val="4F46E5"/>
                </a:solidFill>
                <a:latin typeface="JetBrains Mono"/>
              </a:rPr>
              <a:t>3</a:t>
            </a:r>
            <a:r>
              <a:rPr b="1" sz="1200" i="0" u="none">
                <a:solidFill>
                  <a:srgbClr val="4F46E5"/>
                </a:solidFill>
                <a:latin typeface="JetBrains Mono"/>
              </a:rPr>
              <a:t> / 6</a:t>
            </a:r>
            <a:r>
              <a:rPr b="1" sz="780" i="0" u="none">
                <a:solidFill>
                  <a:srgbClr val="4F46E5"/>
                </a:solidFill>
                <a:latin typeface="JetBrains Mono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962275"/>
            <a:ext cx="4107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Numerator product law: 6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8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 × 6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3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 = 6</a:t>
            </a:r>
            <a:r>
              <a:rPr b="1" sz="731" i="0" u="none">
                <a:solidFill>
                  <a:srgbClr val="334155"/>
                </a:solidFill>
                <a:latin typeface="Plus Jakarta Sans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96525" y="2962275"/>
            <a:ext cx="1371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JetBrains Mono"/>
              </a:rPr>
              <a:t>6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11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/ 6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9</a:t>
            </a:r>
            <a:r>
              <a:rPr b="1" sz="1200" i="0" u="none">
                <a:solidFill>
                  <a:srgbClr val="059669"/>
                </a:solidFill>
                <a:latin typeface="JetBrains Mono"/>
              </a:rPr>
              <a:t> = 6</a:t>
            </a:r>
            <a:r>
              <a:rPr b="1" sz="780" i="0" u="none">
                <a:solidFill>
                  <a:srgbClr val="059669"/>
                </a:solidFill>
                <a:latin typeface="JetBrains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624262"/>
            <a:ext cx="5203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Full evaluation: Calculate final numerical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3775" y="3600450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97706"/>
                </a:solidFill>
                <a:latin typeface="JetBrains Mono"/>
              </a:rPr>
              <a:t>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2371725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M1 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3009900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65F46"/>
                </a:solidFill>
                <a:latin typeface="Plus Jakarta Sans"/>
              </a:rPr>
              <a:t>M1 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3671887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A1 MARK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29825" y="514350"/>
            <a:ext cx="1552575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104900"/>
            <a:ext cx="3530649" cy="53721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104900"/>
            <a:ext cx="3530649" cy="53721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104900"/>
            <a:ext cx="3530649" cy="537210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1304925"/>
            <a:ext cx="1209675" cy="2286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30774" y="1304925"/>
            <a:ext cx="1209675" cy="2286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51924" y="1304925"/>
            <a:ext cx="13620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3175" y="571500"/>
            <a:ext cx="1381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730A3"/>
                </a:solidFill>
                <a:latin typeface="Plus Jakarta Sans"/>
              </a:rPr>
              <a:t>Bronze • Silver •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119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INDEPENDENT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52450"/>
            <a:ext cx="5375671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Differentiated Challenge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6134100"/>
            <a:ext cx="391324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Target: Single law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6134100"/>
            <a:ext cx="391324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Target: Combine 2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24" y="6134100"/>
            <a:ext cx="391324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Target: Multi-law fluency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1343025"/>
            <a:ext cx="107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F1239"/>
                </a:solidFill>
                <a:latin typeface="Plus Jakarta Sans"/>
              </a:rPr>
              <a:t>BRONZE (1 Step)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1343025"/>
            <a:ext cx="107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730A3"/>
                </a:solidFill>
                <a:latin typeface="Plus Jakarta Sans"/>
              </a:rPr>
              <a:t>SILVER (2 Steps)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1343025"/>
            <a:ext cx="122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GOLD (Multi-Step)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164782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1) 4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× 4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193357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2) 7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÷ 7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21932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3) (2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50507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4) 18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164782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1)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3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 =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774" y="193357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2)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(5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 =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774" y="221932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3) 6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× 6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× 6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774" y="2505075"/>
            <a:ext cx="3913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4)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7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731" i="0" u="none">
                <a:solidFill>
                  <a:srgbClr val="0F172A"/>
                </a:solidFill>
                <a:latin typeface="JetBrains Mono"/>
              </a:rPr>
              <a:t> × 8</a:t>
            </a:r>
            <a:r>
              <a:rPr b="0" sz="475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8</a:t>
            </a:r>
            <a:r>
              <a:rPr b="1" sz="731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1" sz="1125" i="0" u="none">
                <a:solidFill>
                  <a:srgbClr val="0F172A"/>
                </a:solidFill>
                <a:latin typeface="JetBrains Mono"/>
              </a:rPr>
              <a:t>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1924" y="16478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JetBrains Mono"/>
              </a:rPr>
              <a:t>1)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(2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2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682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14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682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 =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1924" y="19145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JetBrains Mono"/>
              </a:rPr>
              <a:t>2)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(10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10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682" i="0" u="none">
                <a:solidFill>
                  <a:srgbClr val="0F172A"/>
                </a:solidFill>
                <a:latin typeface="JetBrains Mono"/>
              </a:rPr>
              <a:t>10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10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10</a:t>
            </a:r>
            <a:r>
              <a:rPr b="1" sz="682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 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1924" y="21812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JetBrains Mono"/>
              </a:rPr>
              <a:t>3)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6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(9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682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11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9</a:t>
            </a:r>
            <a:r>
              <a:rPr b="1" sz="682" i="0" u="none">
                <a:solidFill>
                  <a:srgbClr val="0F172A"/>
                </a:solidFill>
                <a:latin typeface="JetBrains Mono"/>
              </a:rPr>
              <a:t>1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 =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1924" y="24479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JetBrains Mono"/>
              </a:rPr>
              <a:t>4) 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(4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5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)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0" sz="1350" i="0" u="none">
                <a:solidFill>
                  <a:srgbClr val="0F172A"/>
                </a:solidFill>
                <a:latin typeface="JetBrains Mono"/>
              </a:rPr>
              <a:t> × 4</a:t>
            </a:r>
            <a:r>
              <a:rPr b="0" sz="443" i="0" u="none">
                <a:solidFill>
                  <a:srgbClr val="0F172A"/>
                </a:solidFill>
                <a:latin typeface="JetBrains Mono"/>
              </a:rPr>
              <a:t>3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/</a:t>
            </a:r>
            <a:r>
              <a:rPr b="0" sz="682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0" sz="1050" i="0" u="none">
                <a:solidFill>
                  <a:srgbClr val="0F172A"/>
                </a:solidFill>
                <a:latin typeface="JetBrains Mono"/>
              </a:rPr>
              <a:t> = 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4</a:t>
            </a:r>
            <a:r>
              <a:rPr b="1" sz="682" i="0" u="none">
                <a:solidFill>
                  <a:srgbClr val="0F172A"/>
                </a:solidFill>
                <a:latin typeface="JetBrains Mono"/>
              </a:rPr>
              <a:t>2</a:t>
            </a:r>
            <a:r>
              <a:rPr b="1" sz="1050" i="0" u="none">
                <a:solidFill>
                  <a:srgbClr val="0F172A"/>
                </a:solidFill>
                <a:latin typeface="JetBrains Mono"/>
              </a:rPr>
              <a:t> =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23076"/>
            </a:avLst>
          </a:prstGeom>
          <a:solidFill>
            <a:srgbClr val="22225D"/>
          </a:solidFill>
          <a:ln w="9525">
            <a:solidFill>
              <a:srgbClr val="373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2725" y="533400"/>
            <a:ext cx="1209675" cy="304800"/>
          </a:xfrm>
          <a:prstGeom prst="roundRect">
            <a:avLst>
              <a:gd name="adj" fmla="val 50000"/>
            </a:avLst>
          </a:prstGeom>
          <a:solidFill>
            <a:srgbClr val="2E304F"/>
          </a:solidFill>
          <a:ln w="9525">
            <a:solidFill>
              <a:srgbClr val="3A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5245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919412"/>
            <a:ext cx="5410200" cy="647700"/>
          </a:xfrm>
          <a:prstGeom prst="roundRect">
            <a:avLst>
              <a:gd name="adj" fmla="val 17647"/>
            </a:avLst>
          </a:prstGeom>
          <a:solidFill>
            <a:srgbClr val="252747"/>
          </a:solidFill>
          <a:ln w="9525">
            <a:solidFill>
              <a:srgbClr val="3335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919412"/>
            <a:ext cx="5410200" cy="647700"/>
          </a:xfrm>
          <a:prstGeom prst="roundRect">
            <a:avLst>
              <a:gd name="adj" fmla="val 17647"/>
            </a:avLst>
          </a:prstGeom>
          <a:solidFill>
            <a:srgbClr val="252747"/>
          </a:solidFill>
          <a:ln w="9525">
            <a:solidFill>
              <a:srgbClr val="3335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719512"/>
            <a:ext cx="5410200" cy="647700"/>
          </a:xfrm>
          <a:prstGeom prst="roundRect">
            <a:avLst>
              <a:gd name="adj" fmla="val 17647"/>
            </a:avLst>
          </a:prstGeom>
          <a:solidFill>
            <a:srgbClr val="252747"/>
          </a:solidFill>
          <a:ln w="9525">
            <a:solidFill>
              <a:srgbClr val="3335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3719512"/>
            <a:ext cx="5410200" cy="647700"/>
          </a:xfrm>
          <a:prstGeom prst="roundRect">
            <a:avLst>
              <a:gd name="adj" fmla="val 17647"/>
            </a:avLst>
          </a:prstGeom>
          <a:solidFill>
            <a:srgbClr val="252747"/>
          </a:solidFill>
          <a:ln w="9525">
            <a:solidFill>
              <a:srgbClr val="3335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599122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25125" y="590550"/>
            <a:ext cx="1000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Ingenio Maths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300287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Master Summary: 4 Laws of Numerical Indices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991225"/>
            <a:ext cx="1512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Plus Jakarta Sans"/>
              </a:rPr>
              <a:t>Ingenio Maths KS4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96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REVISION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450" y="595312"/>
            <a:ext cx="1893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Plus Jakarta Sans"/>
              </a:rPr>
              <a:t>GCSE Key 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5991225"/>
            <a:ext cx="6893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Multi-step Order: Brackets → Numerator / Denominator Products → Division →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3133725"/>
            <a:ext cx="1595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JetBrains Mono"/>
              </a:rPr>
              <a:t>a</a:t>
            </a:r>
            <a:r>
              <a:rPr b="1" sz="877" i="0" u="none">
                <a:solidFill>
                  <a:srgbClr val="34D399"/>
                </a:solidFill>
                <a:latin typeface="JetBrains Mono"/>
              </a:rPr>
              <a:t>m</a:t>
            </a:r>
            <a:r>
              <a:rPr b="1" sz="1350" i="0" u="none">
                <a:solidFill>
                  <a:srgbClr val="34D399"/>
                </a:solidFill>
                <a:latin typeface="JetBrains Mono"/>
              </a:rPr>
              <a:t> × a</a:t>
            </a:r>
            <a:r>
              <a:rPr b="1" sz="877" i="0" u="none">
                <a:solidFill>
                  <a:srgbClr val="34D399"/>
                </a:solidFill>
                <a:latin typeface="JetBrains Mono"/>
              </a:rPr>
              <a:t>n</a:t>
            </a:r>
            <a:r>
              <a:rPr b="1" sz="1350" i="0" u="none">
                <a:solidFill>
                  <a:srgbClr val="34D399"/>
                </a:solidFill>
                <a:latin typeface="JetBrains Mono"/>
              </a:rPr>
              <a:t> = a</a:t>
            </a:r>
            <a:r>
              <a:rPr b="1" sz="877" i="0" u="none">
                <a:solidFill>
                  <a:srgbClr val="34D399"/>
                </a:solidFill>
                <a:latin typeface="JetBrains Mono"/>
              </a:rPr>
              <a:t>m+n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6025" y="3133725"/>
            <a:ext cx="1595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a</a:t>
            </a:r>
            <a:r>
              <a:rPr b="1" sz="877" i="0" u="none">
                <a:solidFill>
                  <a:srgbClr val="38BDF8"/>
                </a:solidFill>
                <a:latin typeface="JetBrains Mono"/>
              </a:rPr>
              <a:t>m</a:t>
            </a:r>
            <a:r>
              <a:rPr b="1" sz="1350" i="0" u="none">
                <a:solidFill>
                  <a:srgbClr val="38BDF8"/>
                </a:solidFill>
                <a:latin typeface="JetBrains Mono"/>
              </a:rPr>
              <a:t> ÷ a</a:t>
            </a:r>
            <a:r>
              <a:rPr b="1" sz="877" i="0" u="none">
                <a:solidFill>
                  <a:srgbClr val="38BDF8"/>
                </a:solidFill>
                <a:latin typeface="JetBrains Mono"/>
              </a:rPr>
              <a:t>n</a:t>
            </a:r>
            <a:r>
              <a:rPr b="1" sz="1350" i="0" u="none">
                <a:solidFill>
                  <a:srgbClr val="38BDF8"/>
                </a:solidFill>
                <a:latin typeface="JetBrains Mono"/>
              </a:rPr>
              <a:t> = a</a:t>
            </a:r>
            <a:r>
              <a:rPr b="1" sz="877" i="0" u="none">
                <a:solidFill>
                  <a:srgbClr val="38BDF8"/>
                </a:solidFill>
                <a:latin typeface="JetBrains Mono"/>
              </a:rPr>
              <a:t>m-n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9225" y="3933825"/>
            <a:ext cx="876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BBF24"/>
                </a:solidFill>
                <a:latin typeface="JetBrains Mono"/>
              </a:rPr>
              <a:t>a</a:t>
            </a:r>
            <a:r>
              <a:rPr b="1" sz="877" i="0" u="none">
                <a:solidFill>
                  <a:srgbClr val="FBBF24"/>
                </a:solidFill>
                <a:latin typeface="JetBrains Mono"/>
              </a:rPr>
              <a:t>0</a:t>
            </a:r>
            <a:r>
              <a:rPr b="1" sz="1350" i="0" u="none">
                <a:solidFill>
                  <a:srgbClr val="FBBF24"/>
                </a:solidFill>
                <a:latin typeface="JetBrains Mono"/>
              </a:rPr>
              <a:t>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5575" y="3933825"/>
            <a:ext cx="1352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084FC"/>
                </a:solidFill>
                <a:latin typeface="JetBrains Mono"/>
              </a:rPr>
              <a:t>(a</a:t>
            </a:r>
            <a:r>
              <a:rPr b="1" sz="877" i="0" u="none">
                <a:solidFill>
                  <a:srgbClr val="C084FC"/>
                </a:solidFill>
                <a:latin typeface="JetBrains Mono"/>
              </a:rPr>
              <a:t>m</a:t>
            </a:r>
            <a:r>
              <a:rPr b="1" sz="1350" i="0" u="none">
                <a:solidFill>
                  <a:srgbClr val="C084FC"/>
                </a:solidFill>
                <a:latin typeface="JetBrains Mono"/>
              </a:rPr>
              <a:t>)</a:t>
            </a:r>
            <a:r>
              <a:rPr b="1" sz="877" i="0" u="none">
                <a:solidFill>
                  <a:srgbClr val="C084FC"/>
                </a:solidFill>
                <a:latin typeface="JetBrains Mono"/>
              </a:rPr>
              <a:t>n</a:t>
            </a:r>
            <a:r>
              <a:rPr b="1" sz="1350" i="0" u="none">
                <a:solidFill>
                  <a:srgbClr val="C084FC"/>
                </a:solidFill>
                <a:latin typeface="JetBrains Mono"/>
              </a:rPr>
              <a:t> = a</a:t>
            </a:r>
            <a:r>
              <a:rPr b="1" sz="877" i="0" u="none">
                <a:solidFill>
                  <a:srgbClr val="C084FC"/>
                </a:solidFill>
                <a:latin typeface="JetBrains Mono"/>
              </a:rPr>
              <a:t>m×n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081337"/>
            <a:ext cx="2917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7F3D0"/>
                </a:solidFill>
                <a:latin typeface="Plus Jakarta Sans"/>
              </a:rPr>
              <a:t>PRODUCT LAW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224212"/>
            <a:ext cx="2917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Multiply same base → Add powers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3081337"/>
            <a:ext cx="3190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AE6FD"/>
                </a:solidFill>
                <a:latin typeface="Plus Jakarta Sans"/>
              </a:rPr>
              <a:t>QUOTIENT LAW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224212"/>
            <a:ext cx="3190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Divide same base → Subtract powers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3881437"/>
            <a:ext cx="2583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DE68A"/>
                </a:solidFill>
                <a:latin typeface="Plus Jakarta Sans"/>
              </a:rPr>
              <a:t>ZERO POWER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024312"/>
            <a:ext cx="2583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Any non-zero base to power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225" y="3881437"/>
            <a:ext cx="32504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DD6FE"/>
                </a:solidFill>
                <a:latin typeface="Plus Jakarta Sans"/>
              </a:rPr>
              <a:t>POWER OF 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024312"/>
            <a:ext cx="3250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Power inside brackets raised to 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