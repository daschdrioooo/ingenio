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9BBB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Indices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375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Powers, Roots and Writing Terms in Index 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926080" cy="0"/>
          </a:xfrm>
          <a:prstGeom prst="line">
            <a:avLst/>
          </a:prstGeom>
          <a:noFill/>
          <a:ln w="38100">
            <a:solidFill>
              <a:srgbClr val="9BBB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Y10  |  GCSE Higher  |  Number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 •  Roots  •  Surds  •  Index 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72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630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number, fraction or algebraic term to the power of a fraction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624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BB5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146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number, fraction or algebraic term to the power of a negative fraction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675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BB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661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power with a fractional index as a surd expression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7274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BB5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6177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collection of terms in the form  a xᵇ  (a × x to the power of b)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1325880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377440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429000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480560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532120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Unit Fractional 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143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51760" y="1143000"/>
            <a:ext cx="6858000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30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1/n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 number to the power of  </a:t>
            </a:r>
            <a:pPr algn="ctr" indent="0" marL="0">
              <a:buNone/>
            </a:pPr>
            <a:r>
              <a:rPr lang="en-US" sz="18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1/n</a:t>
            </a:r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same as taking the  </a:t>
            </a:r>
            <a:pPr algn="ctr" indent="0" marL="0">
              <a:buNone/>
            </a:pPr>
            <a:r>
              <a:rPr lang="en-US" sz="18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root of 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3346704" cy="2834640"/>
          </a:xfrm>
          <a:prstGeom prst="roundRect">
            <a:avLst>
              <a:gd name="adj" fmla="val 3226"/>
            </a:avLst>
          </a:prstGeom>
          <a:solidFill>
            <a:srgbClr val="F4F4F2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29768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³√8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98264" y="3154680"/>
            <a:ext cx="3346704" cy="2834640"/>
          </a:xfrm>
          <a:prstGeom prst="roundRect">
            <a:avLst>
              <a:gd name="adj" fmla="val 3226"/>
            </a:avLst>
          </a:prstGeom>
          <a:solidFill>
            <a:srgbClr val="F4F4F2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81144" y="429768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algn="ctr"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⁴√16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65008" y="3154680"/>
            <a:ext cx="3346704" cy="2834640"/>
          </a:xfrm>
          <a:prstGeom prst="roundRect">
            <a:avLst>
              <a:gd name="adj" fmla="val 3226"/>
            </a:avLst>
          </a:prstGeom>
          <a:solidFill>
            <a:srgbClr val="F4F4F2"/>
          </a:solidFill>
          <a:ln w="12700">
            <a:solidFill>
              <a:srgbClr val="E3E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429768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√4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General Fractional 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143000"/>
            <a:ext cx="9628632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1143000"/>
            <a:ext cx="9628632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m/n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(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ⁿ√a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</a:t>
            </a:r>
            <a:pPr algn="ctr" indent="0" marL="0">
              <a:buNone/>
            </a:pPr>
            <a:r>
              <a:rPr lang="en-US" sz="26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9BBB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4231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find the root first, then apply the power — the numbers stay smaller!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0725912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20040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584448"/>
            <a:ext cx="10725912" cy="228600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(³√8)</a:t>
            </a: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find the cube root of 8, which is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43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=   2</a:t>
            </a: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square the result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4983480"/>
            <a:ext cx="9966960" cy="0"/>
          </a:xfrm>
          <a:prstGeom prst="line">
            <a:avLst/>
          </a:prstGeom>
          <a:noFill/>
          <a:ln w="12700">
            <a:solidFill>
              <a:srgbClr val="DADA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5074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(³√27)</a:t>
            </a: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3</a:t>
            </a: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81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Fractional Indices with Numbers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1663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3444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91072" y="1234440"/>
            <a:ext cx="5166360" cy="384048"/>
          </a:xfrm>
          <a:prstGeom prst="rect">
            <a:avLst/>
          </a:prstGeom>
          <a:solidFill>
            <a:srgbClr val="6E8A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91072" y="123444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618488"/>
            <a:ext cx="5166360" cy="489204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1618488"/>
            <a:ext cx="5166360" cy="4892040"/>
          </a:xfrm>
          <a:prstGeom prst="rect">
            <a:avLst/>
          </a:prstGeom>
          <a:solidFill>
            <a:srgbClr val="FBFBF8"/>
          </a:solidFill>
          <a:ln w="19050">
            <a:solidFill>
              <a:srgbClr val="9BBB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828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(√9)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3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27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957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(⁴√16)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2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8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9626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(⁵√32)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2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1828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5a) 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?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8803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5b) 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9319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5c) 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?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Fractional Indices with Algebraic Terms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1663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3444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91072" y="1234440"/>
            <a:ext cx="5166360" cy="384048"/>
          </a:xfrm>
          <a:prstGeom prst="rect">
            <a:avLst/>
          </a:prstGeom>
          <a:solidFill>
            <a:srgbClr val="6E8A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91072" y="123444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618488"/>
            <a:ext cx="5166360" cy="489204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1618488"/>
            <a:ext cx="5166360" cy="4892040"/>
          </a:xfrm>
          <a:prstGeom prst="rect">
            <a:avLst/>
          </a:prstGeom>
          <a:solidFill>
            <a:srgbClr val="FBFBF8"/>
          </a:solidFill>
          <a:ln w="19050">
            <a:solidFill>
              <a:srgbClr val="9BBB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828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957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(2x)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4x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9626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3x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1828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6a)  (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?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8803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6b)  (8x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9319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6c)  (16x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Negative Fractional Indices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1143000"/>
            <a:ext cx="740664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77440" y="1143000"/>
            <a:ext cx="7406640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−m/n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index means “take the reciprocal” — exactly like negative whole-number powers.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725912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20040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584448"/>
            <a:ext cx="10725912" cy="228600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840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−1/2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1 / 4</a:t>
            </a:r>
            <a:pPr indent="0" marL="0">
              <a:buNone/>
            </a:pP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1 / 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343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square root of 4 (= 2), then take the reciprocal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800600"/>
            <a:ext cx="9966960" cy="0"/>
          </a:xfrm>
          <a:prstGeom prst="line">
            <a:avLst/>
          </a:prstGeom>
          <a:noFill/>
          <a:ln w="12700">
            <a:solidFill>
              <a:srgbClr val="DADA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5029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−2/3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1 / 27</a:t>
            </a:r>
            <a:pPr indent="0" marL="0">
              <a:buNone/>
            </a:pP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1 / (³√27)</a:t>
            </a:r>
            <a:pPr indent="0" marL="0">
              <a:buNone/>
            </a:pPr>
            <a:pPr indent="0" marL="0">
              <a:buNone/>
            </a:pPr>
            <a:r>
              <a:rPr lang="en-US" sz="22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1 / 9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5532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root of 27 is 3, then square it, then take the reciprocal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Negative Fractional Indices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1663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3444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91072" y="1234440"/>
            <a:ext cx="5166360" cy="384048"/>
          </a:xfrm>
          <a:prstGeom prst="rect">
            <a:avLst/>
          </a:prstGeom>
          <a:solidFill>
            <a:srgbClr val="6E8A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91072" y="123444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618488"/>
            <a:ext cx="5166360" cy="489204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1618488"/>
            <a:ext cx="5166360" cy="4892040"/>
          </a:xfrm>
          <a:prstGeom prst="rect">
            <a:avLst/>
          </a:prstGeom>
          <a:solidFill>
            <a:srgbClr val="FBFBF8"/>
          </a:solidFill>
          <a:ln w="19050">
            <a:solidFill>
              <a:srgbClr val="9BBB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828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−3/4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1/16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1/(⁴√16)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1/8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957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1/(3x)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9626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1/(√25)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1/125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18288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8a) 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−2/3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?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8803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8b)  (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9319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8c) 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−2/5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?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Fractional Power as a Surd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1143000"/>
            <a:ext cx="8714232" cy="9144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37360" y="1143000"/>
            <a:ext cx="8714232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m/n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</a:t>
            </a:r>
            <a:pPr algn="ctr" indent="0" marL="0">
              <a:buNone/>
            </a:pPr>
            <a:pPr algn="ctr" indent="0" marL="0">
              <a:buNone/>
            </a:pPr>
            <a:r>
              <a:rPr lang="en-US" sz="24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(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ⁿ√a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algn="ctr" indent="0" marL="0">
              <a:buNone/>
            </a:pPr>
            <a:pPr algn="ctr" indent="0" marL="0">
              <a:buNone/>
            </a:pPr>
            <a:r>
              <a:rPr lang="en-US" sz="24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on top of the fraction becomes the power inside (or outside) the root; the number on the bottom becomes the root itself.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51663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92608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91072" y="2926080"/>
            <a:ext cx="5166360" cy="384048"/>
          </a:xfrm>
          <a:prstGeom prst="rect">
            <a:avLst/>
          </a:prstGeom>
          <a:solidFill>
            <a:srgbClr val="6E8A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91072" y="292608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310128"/>
            <a:ext cx="5166360" cy="320040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1072" y="3310128"/>
            <a:ext cx="5166360" cy="3200400"/>
          </a:xfrm>
          <a:prstGeom prst="rect">
            <a:avLst/>
          </a:prstGeom>
          <a:solidFill>
            <a:srgbClr val="FBFBF8"/>
          </a:solidFill>
          <a:ln w="19050">
            <a:solidFill>
              <a:srgbClr val="9BBB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520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√5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2702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√(x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=   (√x)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0200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(2x)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³√(2x)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7698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(√7)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520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9a)  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?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42702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9b)   y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?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50200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9c)   (3x)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?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57698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9d)   6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?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Terms in the Form  a xᵇ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5912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234440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Conversions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18488"/>
            <a:ext cx="10725912" cy="155448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ⁿ√x   =  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4963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ⁿ√x   =  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4963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ⁿ√(x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=   a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401568"/>
            <a:ext cx="51663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4015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91072" y="3401568"/>
            <a:ext cx="5166360" cy="384048"/>
          </a:xfrm>
          <a:prstGeom prst="rect">
            <a:avLst/>
          </a:prstGeom>
          <a:solidFill>
            <a:srgbClr val="6E8A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340156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785616"/>
            <a:ext cx="5166360" cy="269748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91072" y="3785616"/>
            <a:ext cx="5166360" cy="2697480"/>
          </a:xfrm>
          <a:prstGeom prst="rect">
            <a:avLst/>
          </a:prstGeom>
          <a:solidFill>
            <a:srgbClr val="FBFBF8"/>
          </a:solidFill>
          <a:ln w="19050">
            <a:solidFill>
              <a:srgbClr val="9BBB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3x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6268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√x   =  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230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√x   =   5x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−1/2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833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³√(x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=   4x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4023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10a)   7 /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?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46268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10b)   2√x   = ?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52303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10c)   6 / ³√x   = ?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5833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10d)   9 /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Quickfire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MINI-WHITEBOARD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1430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or simplify each expression. Work in silence, then show your answer.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8288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240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65576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02736" y="18288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02736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2240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99632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336792" y="18288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36792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36792" y="2240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33688" y="16916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20" name="Shape 18"/>
          <p:cNvSpPr/>
          <p:nvPr/>
        </p:nvSpPr>
        <p:spPr>
          <a:xfrm>
            <a:off x="9070848" y="18288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7084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22402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</a:t>
            </a:r>
            <a:pPr algn="ctr" indent="0" marL="0">
              <a:buNone/>
            </a:pP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algn="ctr" indent="0" marL="0">
              <a:buNone/>
            </a:pP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1520" y="331012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4472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38587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−3/2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465576" y="331012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28" name="Shape 26"/>
          <p:cNvSpPr/>
          <p:nvPr/>
        </p:nvSpPr>
        <p:spPr>
          <a:xfrm>
            <a:off x="3602736" y="34472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602736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602736" y="38587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√x   as   x</a:t>
            </a:r>
            <a:pPr algn="ctr" indent="0" marL="0">
              <a:buNone/>
            </a:pP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99632" y="331012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32" name="Shape 30"/>
          <p:cNvSpPr/>
          <p:nvPr/>
        </p:nvSpPr>
        <p:spPr>
          <a:xfrm>
            <a:off x="6336792" y="34472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36792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336792" y="38587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x</a:t>
            </a:r>
            <a:pPr algn="ctr" indent="0" marL="0">
              <a:buNone/>
            </a:pP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as   ax</a:t>
            </a:r>
            <a:pPr algn="ctr" indent="0" marL="0">
              <a:buNone/>
            </a:pP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933688" y="331012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4F2"/>
          </a:solidFill>
          <a:ln/>
        </p:spPr>
      </p:sp>
      <p:sp>
        <p:nvSpPr>
          <p:cNvPr id="36" name="Shape 34"/>
          <p:cNvSpPr/>
          <p:nvPr/>
        </p:nvSpPr>
        <p:spPr>
          <a:xfrm>
            <a:off x="9070848" y="344728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070848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070848" y="385876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algn="ctr" indent="0" marL="0">
              <a:buNone/>
            </a:pPr>
            <a:pPr algn="ctr"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as a surd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every question in full. Show your method — not just the final answer.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1663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60020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91072" y="1600200"/>
            <a:ext cx="5166360" cy="384048"/>
          </a:xfrm>
          <a:prstGeom prst="rect">
            <a:avLst/>
          </a:prstGeom>
          <a:solidFill>
            <a:srgbClr val="6E8A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91072" y="160020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1984248"/>
            <a:ext cx="5166360" cy="448056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291072" y="1984248"/>
            <a:ext cx="5166360" cy="4480560"/>
          </a:xfrm>
          <a:prstGeom prst="rect">
            <a:avLst/>
          </a:prstGeom>
          <a:solidFill>
            <a:srgbClr val="FBFBF8"/>
          </a:solidFill>
          <a:ln w="19050">
            <a:solidFill>
              <a:srgbClr val="9BBB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21945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1762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0120" y="29718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2953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−2/3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60120" y="37490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7307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0120" y="45262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5079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−1/6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0120" y="53035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285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−1/2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519672" y="21945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19672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76872" y="21762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surd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19672" y="29718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19672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76872" y="2953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4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surd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519672" y="37490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19672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976872" y="37307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8 / 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form ax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519672" y="45262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19672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976872" y="45079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3√x in the form ax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6519672" y="530352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BBB5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19672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976872" y="5285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/ ⁴√x in the form ax</a:t>
            </a:r>
            <a:pPr indent="0" marL="0">
              <a:buNone/>
            </a:pPr>
            <a:pPr indent="0" marL="0">
              <a:buNone/>
            </a:pPr>
            <a:r>
              <a:rPr lang="en-US" sz="20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+ QUICKFIRE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1663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18872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"Try These" Answers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91072" y="1188720"/>
            <a:ext cx="5166360" cy="384048"/>
          </a:xfrm>
          <a:prstGeom prst="rect">
            <a:avLst/>
          </a:prstGeom>
          <a:solidFill>
            <a:srgbClr val="6E8A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91072" y="118872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Quickfire Answers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572768"/>
            <a:ext cx="5166360" cy="489204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1572768"/>
            <a:ext cx="5166360" cy="4892040"/>
          </a:xfrm>
          <a:prstGeom prst="rect">
            <a:avLst/>
          </a:prstGeom>
          <a:solidFill>
            <a:srgbClr val="FBFBF8"/>
          </a:solidFill>
          <a:ln w="19050">
            <a:solidFill>
              <a:srgbClr val="9BBB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5a) 125     5b) 27     5c) 16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23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6a) x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6b) 2x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6c) 8x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8a) 1/4     8b) 1/(2x)     8c) 1/8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703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9a) √(x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9b) ⁴√y   9c) ³√(9x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343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9d) (√6)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983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10a) 7x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10b) 2x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623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10c) 6x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−1/3</a:t>
            </a:r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10d) 9x</a:t>
            </a:r>
            <a:pPr indent="0" marL="0">
              <a:buNone/>
            </a:pPr>
            <a:pPr indent="0" marL="0">
              <a:buNone/>
            </a:pPr>
            <a:r>
              <a:rPr lang="en-US" sz="155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1783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3        b) 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1/6      d) x</a:t>
            </a:r>
            <a:pPr indent="0" marL="0">
              <a:buNone/>
            </a:pPr>
            <a:pPr indent="0" marL="0">
              <a:buNone/>
            </a:pPr>
            <a:r>
              <a:rPr lang="en-US" sz="16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3977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1/8      f) x</a:t>
            </a:r>
            <a:pPr indent="0" marL="0">
              <a:buNone/>
            </a:pPr>
            <a:pPr indent="0" marL="0">
              <a:buNone/>
            </a:pPr>
            <a:r>
              <a:rPr lang="en-US" sz="16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5074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3x</a:t>
            </a:r>
            <a:pPr indent="0" marL="0">
              <a:buNone/>
            </a:pPr>
            <a:pPr indent="0" marL="0">
              <a:buNone/>
            </a:pPr>
            <a:r>
              <a:rPr lang="en-US" sz="16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h) ³√(x</a:t>
            </a:r>
            <a:pPr indent="0" marL="0">
              <a:buNone/>
            </a:pPr>
            <a:pPr indent="0" marL="0">
              <a:buNone/>
            </a:pPr>
            <a:r>
              <a:rPr lang="en-US" sz="16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509760" y="219456"/>
            <a:ext cx="2194560" cy="429768"/>
          </a:xfrm>
          <a:prstGeom prst="roundRect">
            <a:avLst>
              <a:gd name="adj" fmla="val 48936"/>
            </a:avLst>
          </a:prstGeom>
          <a:solidFill>
            <a:srgbClr val="9BBB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509760" y="2194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16636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(1–5)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91072" y="1600200"/>
            <a:ext cx="5166360" cy="384048"/>
          </a:xfrm>
          <a:prstGeom prst="rect">
            <a:avLst/>
          </a:prstGeom>
          <a:solidFill>
            <a:srgbClr val="6E8A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91072" y="160020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(6–10)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1984248"/>
            <a:ext cx="5166360" cy="4480560"/>
          </a:xfrm>
          <a:prstGeom prst="rect">
            <a:avLst/>
          </a:prstGeom>
          <a:solidFill>
            <a:srgbClr val="F4F4F2"/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1984248"/>
            <a:ext cx="5166360" cy="4480560"/>
          </a:xfrm>
          <a:prstGeom prst="rect">
            <a:avLst/>
          </a:prstGeom>
          <a:solidFill>
            <a:srgbClr val="FBFBF8"/>
          </a:solidFill>
          <a:ln w="19050">
            <a:solidFill>
              <a:srgbClr val="9BBB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125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017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1/9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794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 8x</a:t>
            </a:r>
            <a:pPr indent="0" marL="0">
              <a:buNone/>
            </a:pPr>
            <a:pPr indent="0" marL="0">
              <a:buNone/>
            </a:pPr>
            <a:r>
              <a:rPr lang="en-US" sz="18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72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 1/2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5349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 1/(3x</a:t>
            </a:r>
            <a:pPr indent="0" marL="0">
              <a:buNone/>
            </a:pPr>
            <a:pPr indent="0" marL="0">
              <a:buNone/>
            </a:pPr>
            <a:r>
              <a:rPr lang="en-US" sz="18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 √(x</a:t>
            </a:r>
            <a:pPr indent="0" marL="0">
              <a:buNone/>
            </a:pPr>
            <a:pPr indent="0" marL="0">
              <a:buNone/>
            </a:pPr>
            <a:r>
              <a:rPr lang="en-US" sz="18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3017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 (√4)</a:t>
            </a:r>
            <a:pPr indent="0" marL="0">
              <a:buNone/>
            </a:pPr>
            <a:pPr indent="0" marL="0">
              <a:buNone/>
            </a:pPr>
            <a:r>
              <a:rPr lang="en-US" sz="18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794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 8x</a:t>
            </a:r>
            <a:pPr indent="0" marL="0">
              <a:buNone/>
            </a:pPr>
            <a:pPr indent="0" marL="0">
              <a:buNone/>
            </a:pPr>
            <a:r>
              <a:rPr lang="en-US" sz="18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4572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 3x</a:t>
            </a:r>
            <a:pPr indent="0" marL="0">
              <a:buNone/>
            </a:pPr>
            <a:pPr indent="0" marL="0">
              <a:buNone/>
            </a:pPr>
            <a:r>
              <a:rPr lang="en-US" sz="18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5349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 5x</a:t>
            </a:r>
            <a:pPr indent="0" marL="0">
              <a:buNone/>
            </a:pPr>
            <a:pPr indent="0" marL="0">
              <a:buNone/>
            </a:pPr>
            <a:r>
              <a:rPr lang="en-US" sz="1800" baseline="30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−1/4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2026-09-26T21:25:14Z</dcterms:created>
  <dcterms:modified xsi:type="dcterms:W3CDTF">2026-09-26T21:25:14Z</dcterms:modified>
</cp:coreProperties>
</file>